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1"/>
  </p:notesMasterIdLst>
  <p:sldIdLst>
    <p:sldId id="256" r:id="rId2"/>
    <p:sldId id="259" r:id="rId3"/>
    <p:sldId id="281" r:id="rId4"/>
    <p:sldId id="282" r:id="rId5"/>
    <p:sldId id="279" r:id="rId6"/>
    <p:sldId id="260" r:id="rId7"/>
    <p:sldId id="275" r:id="rId8"/>
    <p:sldId id="261" r:id="rId9"/>
    <p:sldId id="286" r:id="rId10"/>
    <p:sldId id="258" r:id="rId11"/>
    <p:sldId id="291" r:id="rId12"/>
    <p:sldId id="312" r:id="rId13"/>
    <p:sldId id="285" r:id="rId14"/>
    <p:sldId id="28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5" r:id="rId24"/>
    <p:sldId id="307" r:id="rId25"/>
    <p:sldId id="304" r:id="rId26"/>
    <p:sldId id="303" r:id="rId27"/>
    <p:sldId id="306" r:id="rId28"/>
    <p:sldId id="308" r:id="rId29"/>
    <p:sldId id="309" r:id="rId30"/>
    <p:sldId id="311" r:id="rId31"/>
    <p:sldId id="293" r:id="rId32"/>
    <p:sldId id="313" r:id="rId33"/>
    <p:sldId id="317" r:id="rId34"/>
    <p:sldId id="316" r:id="rId35"/>
    <p:sldId id="318" r:id="rId36"/>
    <p:sldId id="315" r:id="rId37"/>
    <p:sldId id="269" r:id="rId38"/>
    <p:sldId id="314" r:id="rId39"/>
    <p:sldId id="310" r:id="rId40"/>
    <p:sldId id="283" r:id="rId41"/>
    <p:sldId id="288" r:id="rId42"/>
    <p:sldId id="292" r:id="rId43"/>
    <p:sldId id="290" r:id="rId44"/>
    <p:sldId id="289" r:id="rId45"/>
    <p:sldId id="266" r:id="rId46"/>
    <p:sldId id="268" r:id="rId47"/>
    <p:sldId id="265" r:id="rId48"/>
    <p:sldId id="270" r:id="rId49"/>
    <p:sldId id="271" r:id="rId50"/>
    <p:sldId id="273" r:id="rId51"/>
    <p:sldId id="276" r:id="rId52"/>
    <p:sldId id="294" r:id="rId53"/>
    <p:sldId id="274" r:id="rId54"/>
    <p:sldId id="277" r:id="rId55"/>
    <p:sldId id="278" r:id="rId56"/>
    <p:sldId id="280" r:id="rId57"/>
    <p:sldId id="287" r:id="rId58"/>
    <p:sldId id="262" r:id="rId59"/>
    <p:sldId id="263" r:id="rId6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954" autoAdjust="0"/>
  </p:normalViewPr>
  <p:slideViewPr>
    <p:cSldViewPr>
      <p:cViewPr varScale="1">
        <p:scale>
          <a:sx n="136" d="100"/>
          <a:sy n="136" d="100"/>
        </p:scale>
        <p:origin x="236" y="92"/>
      </p:cViewPr>
      <p:guideLst/>
    </p:cSldViewPr>
  </p:slideViewPr>
  <p:outlineViewPr>
    <p:cViewPr>
      <p:scale>
        <a:sx n="33" d="100"/>
        <a:sy n="33" d="100"/>
      </p:scale>
      <p:origin x="0" y="-1315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79541-EFA9-4143-BADF-C4F46CF73545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A1EA3-DF44-4278-8FBC-B8415A84E3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42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589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75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577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501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996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233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509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A1EA3-DF44-4278-8FBC-B8415A84E388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40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★ Master title 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908720"/>
            <a:ext cx="8420100" cy="2691731"/>
          </a:xfrm>
        </p:spPr>
        <p:txBody>
          <a:bodyPr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60800"/>
            <a:ext cx="6934200" cy="177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028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★ Title 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9058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73050" y="0"/>
            <a:ext cx="93599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8" name="직선 화살표 연결선 7"/>
          <p:cNvCxnSpPr/>
          <p:nvPr userDrawn="1"/>
        </p:nvCxnSpPr>
        <p:spPr>
          <a:xfrm>
            <a:off x="272480" y="-243408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 userDrawn="1"/>
        </p:nvCxnSpPr>
        <p:spPr>
          <a:xfrm>
            <a:off x="9633520" y="-243408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 userDrawn="1"/>
        </p:nvCxnSpPr>
        <p:spPr>
          <a:xfrm rot="16200000">
            <a:off x="-123564" y="800707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 userDrawn="1"/>
        </p:nvCxnSpPr>
        <p:spPr>
          <a:xfrm rot="16200000">
            <a:off x="-123564" y="6417332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 userDrawn="1"/>
        </p:nvCxnSpPr>
        <p:spPr>
          <a:xfrm flipV="1">
            <a:off x="4953000" y="6885384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0" y="6601970"/>
            <a:ext cx="12682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aseline="0" dirty="0">
                <a:solidFill>
                  <a:schemeClr val="bg1">
                    <a:lumMod val="50000"/>
                  </a:schemeClr>
                </a:solidFill>
              </a:rPr>
              <a:t>yStudy on ReactJS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03478" y="6605442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C7365AC8-FCBF-443E-95EC-F08535F791F8}" type="slidenum">
              <a:rPr lang="en-US" altLang="ko-KR" sz="10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/35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6" name="직선 화살표 연결선 15"/>
          <p:cNvCxnSpPr/>
          <p:nvPr userDrawn="1"/>
        </p:nvCxnSpPr>
        <p:spPr>
          <a:xfrm rot="16200000">
            <a:off x="-123564" y="3537012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 userDrawn="1"/>
        </p:nvCxnSpPr>
        <p:spPr>
          <a:xfrm rot="16200000">
            <a:off x="-123564" y="3753035"/>
            <a:ext cx="0" cy="216024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 userDrawn="1"/>
        </p:nvCxnSpPr>
        <p:spPr>
          <a:xfrm rot="16200000">
            <a:off x="-123564" y="5553236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 userDrawn="1"/>
        </p:nvSpPr>
        <p:spPr>
          <a:xfrm>
            <a:off x="7901942" y="0"/>
            <a:ext cx="20024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Collective Intelligence</a:t>
            </a:r>
            <a:r>
              <a:rPr lang="en-US" altLang="ko-KR" sz="800" baseline="0" dirty="0">
                <a:solidFill>
                  <a:schemeClr val="bg1">
                    <a:lumMod val="50000"/>
                  </a:schemeClr>
                </a:solidFill>
              </a:rPr>
              <a:t> and Co-Evolution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41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dt="0"/>
  <p:txStyles>
    <p:titleStyle>
      <a:lvl1pPr algn="l" defTabSz="914400" rtl="0" eaLnBrk="1" latinLnBrk="1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tepanowon@hotmail.com" TargetMode="External"/><Relationship Id="rId7" Type="http://schemas.openxmlformats.org/officeDocument/2006/relationships/hyperlink" Target="https://github.com/stepanowon/contactsvc" TargetMode="External"/><Relationship Id="rId2" Type="http://schemas.openxmlformats.org/officeDocument/2006/relationships/hyperlink" Target="http://www.opensg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homoefficio.github.io/2015/07/21/Cross-Origin-Resource-Sharing/" TargetMode="External"/><Relationship Id="rId5" Type="http://schemas.openxmlformats.org/officeDocument/2006/relationships/hyperlink" Target="https://github.com/stepanowon/react-quickstart" TargetMode="External"/><Relationship Id="rId4" Type="http://schemas.openxmlformats.org/officeDocument/2006/relationships/hyperlink" Target="https://github.com/stepanow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nodejs.org/k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coreybutler/nvm-window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.visualstudio.com/docs/nodejs/reactjs-tutorial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de.visualstudio.com/shortcuts/keyboard-shortcuts-window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hyperlink" Target="https://infinite.red/files/yarn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ook.github.io/create-react-app/docs/getting-started" TargetMode="External"/><Relationship Id="rId2" Type="http://schemas.openxmlformats.org/officeDocument/2006/relationships/hyperlink" Target="https://infinite.red/files/yarn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facebook.github.io/create-react-app/docs/getting-starte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github.com/ReactTraining/react-router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/create-react-app/tree/master/packages/react-app-polyfil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25557299/internet-explorer-11-disable-display-intranet-sites-in-compatibility-view-via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ook.github.io/create-react-app/docs/deployme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hyperlink" Target="https://reacttraining.com/react-router/web/api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panowon/react_deploy_sample/blob/master/hello-react-redux/package.jso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panowon/react_deploy_sample/blob/master/hello-react-redux/package.jso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rimra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vilers/disable-react-devtools#readme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webpack.js.org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" TargetMode="External"/><Relationship Id="rId2" Type="http://schemas.openxmlformats.org/officeDocument/2006/relationships/hyperlink" Target="http://babeljs.io/rep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concepts/loaders" TargetMode="External"/><Relationship Id="rId2" Type="http://schemas.openxmlformats.org/officeDocument/2006/relationships/hyperlink" Target="https://webpack.js.org/load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hyperlink" Target="https://github.com/webpack-contrib/awesome-webpack#laoders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webpack.js.org/concepts/load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pack.js.org/concepts/plugins/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mingwithmosh.com/javascript/react-lifecycle-methods/" TargetMode="External"/><Relationship Id="rId2" Type="http://schemas.openxmlformats.org/officeDocument/2006/relationships/hyperlink" Target="http://projects.wojtekmaj.pl/react-lifecycle-methods-diagra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facebook.github.io/flux/docs/overview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ime_travel_debugging" TargetMode="External"/><Relationship Id="rId2" Type="http://schemas.openxmlformats.org/officeDocument/2006/relationships/hyperlink" Target="https://redux.js.org/api/stor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hyperlink" Target="https://en.wikipedia.org/wiki/Single_source_of_truth" TargetMode="External"/><Relationship Id="rId4" Type="http://schemas.openxmlformats.org/officeDocument/2006/relationships/hyperlink" Target="https://redux.js.org/introduction/three-principles" TargetMode="Externa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tepoint.com/getting-started-redux/" TargetMode="External"/><Relationship Id="rId3" Type="http://schemas.openxmlformats.org/officeDocument/2006/relationships/hyperlink" Target="https://www.slideshare.net/gilfink/redux-data-flow-with-angular-77198205" TargetMode="External"/><Relationship Id="rId7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freecodecamp.org/how-to-model-the-behavior-of-redux-apps-using-statecharts-5e342aad8f66" TargetMode="Externa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visualengin/workshop-22-reactredux-m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bxjs/mobx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beljs.io/repl" TargetMode="External"/><Relationship Id="rId2" Type="http://schemas.openxmlformats.org/officeDocument/2006/relationships/hyperlink" Target="https://www.npmjs.com/package/local-np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" TargetMode="External"/><Relationship Id="rId4" Type="http://schemas.openxmlformats.org/officeDocument/2006/relationships/hyperlink" Target="https://getbootstrap.com/" TargetMode="Externa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hyperlink" Target="https://velopert.com/2389" TargetMode="External"/><Relationship Id="rId7" Type="http://schemas.openxmlformats.org/officeDocument/2006/relationships/hyperlink" Target="https://www.npmjs.com/package/express-history-api-fallback" TargetMode="External"/><Relationship Id="rId2" Type="http://schemas.openxmlformats.org/officeDocument/2006/relationships/hyperlink" Target="https://namu.wiki/w/S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js.org/docs/introducing-jsx.html" TargetMode="External"/><Relationship Id="rId5" Type="http://schemas.openxmlformats.org/officeDocument/2006/relationships/hyperlink" Target="https://ndb796.tistory.com/216" TargetMode="External"/><Relationship Id="rId4" Type="http://schemas.openxmlformats.org/officeDocument/2006/relationships/hyperlink" Target="https://material-u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ReactJS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2019.4.1 – 4.5 – 5.12</a:t>
            </a:r>
          </a:p>
          <a:p>
            <a:r>
              <a:rPr lang="en-US" altLang="ko-KR" dirty="0"/>
              <a:t>Y</a:t>
            </a:r>
            <a:endParaRPr lang="ko-KR" altLang="en-US" dirty="0"/>
          </a:p>
        </p:txBody>
      </p:sp>
      <p:pic>
        <p:nvPicPr>
          <p:cNvPr id="8194" name="Picture 2" descr="reactì ëí ì´ë¯¸ì§ ê²ìê²°ê³¼">
            <a:extLst>
              <a:ext uri="{FF2B5EF4-FFF2-40B4-BE49-F238E27FC236}">
                <a16:creationId xmlns:a16="http://schemas.microsoft.com/office/drawing/2014/main" id="{330A292F-776F-4D3C-9D27-4D4448E7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40466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99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멀티캠퍼스 </a:t>
            </a:r>
            <a:r>
              <a:rPr lang="en-US" altLang="ko-KR" dirty="0"/>
              <a:t>ReactJS</a:t>
            </a:r>
            <a:r>
              <a:rPr lang="ko-KR" altLang="en-US" dirty="0"/>
              <a:t> 프로그래밍 강의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54586" y="1268760"/>
            <a:ext cx="5999015" cy="2314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원형섭 </a:t>
            </a:r>
            <a:r>
              <a:rPr lang="en-US" altLang="ko-KR" sz="1400" dirty="0"/>
              <a:t>(40</a:t>
            </a:r>
            <a:r>
              <a:rPr lang="ko-KR" altLang="en-US" sz="1400" dirty="0"/>
              <a:t>살 </a:t>
            </a:r>
            <a:r>
              <a:rPr lang="en-US" altLang="ko-KR" sz="1400" dirty="0"/>
              <a:t>2019</a:t>
            </a:r>
            <a:r>
              <a:rPr lang="ko-KR" altLang="en-US" sz="1400" dirty="0"/>
              <a:t>년 현재</a:t>
            </a:r>
            <a:r>
              <a:rPr lang="en-US" altLang="ko-KR" sz="1400" dirty="0"/>
              <a:t>)</a:t>
            </a:r>
            <a:endParaRPr lang="en-US" altLang="ko-KR" sz="1400" dirty="0">
              <a:hlinkClick r:id="rId2"/>
            </a:endParaRP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http://www.opensg.net/</a:t>
            </a:r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3"/>
              </a:rPr>
              <a:t>stepanowon@hotmail.com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4"/>
              </a:rPr>
              <a:t>https://github.com/stepanowon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5"/>
              </a:rPr>
              <a:t>https://github.com/stepanowon/react-quickstart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6"/>
              </a:rPr>
              <a:t>http://homoefficio.github.io/2015/07/21/Cross-Origin-Resource-Sharing/</a:t>
            </a:r>
            <a:endParaRPr lang="en-US" altLang="ko-KR" sz="1400" dirty="0"/>
          </a:p>
          <a:p>
            <a:pPr marL="176213" indent="-1762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7"/>
              </a:rPr>
              <a:t>https://github.com/stepanowon/contactsvc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BD1E1-EB33-4E43-811B-B50614F29F29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5841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Books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9758" r="77194" b="33651"/>
          <a:stretch/>
        </p:blipFill>
        <p:spPr>
          <a:xfrm>
            <a:off x="704454" y="1052736"/>
            <a:ext cx="1535658" cy="208823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12" y="1124744"/>
            <a:ext cx="1533525" cy="20955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837" y="1124744"/>
            <a:ext cx="1694486" cy="20162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B704A5-D101-4556-A477-E1E8B00ADA8A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94238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node.js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921422-A406-494A-AFA3-54441B3F01FB}"/>
              </a:ext>
            </a:extLst>
          </p:cNvPr>
          <p:cNvSpPr/>
          <p:nvPr/>
        </p:nvSpPr>
        <p:spPr>
          <a:xfrm>
            <a:off x="1496616" y="4386590"/>
            <a:ext cx="22717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00" dirty="0">
                <a:solidFill>
                  <a:srgbClr val="0000FF"/>
                </a:solidFill>
              </a:rPr>
              <a:t>node-v10.15.3-x64.msi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6367E8-710F-4F9C-B0F3-BDB0F9FF68A5}"/>
              </a:ext>
            </a:extLst>
          </p:cNvPr>
          <p:cNvSpPr/>
          <p:nvPr/>
        </p:nvSpPr>
        <p:spPr>
          <a:xfrm>
            <a:off x="416496" y="773996"/>
            <a:ext cx="18453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https://nodejs.org/ko/</a:t>
            </a: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BD4C42-0E71-4F68-923A-E1316F825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1306263"/>
            <a:ext cx="4364162" cy="29461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4B8665-00FA-438C-9EBC-9B0DBC35C64B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pic>
        <p:nvPicPr>
          <p:cNvPr id="10242" name="Picture 2" descr="node.jsì ëí ì´ë¯¸ì§ ê²ìê²°ê³¼">
            <a:extLst>
              <a:ext uri="{FF2B5EF4-FFF2-40B4-BE49-F238E27FC236}">
                <a16:creationId xmlns:a16="http://schemas.microsoft.com/office/drawing/2014/main" id="{60594C56-16B0-4683-8632-4AE7D60A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88" y="109386"/>
            <a:ext cx="1435390" cy="88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88B1A5-4D70-4DAB-BBEF-B1E62DF2E2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424" y="1196752"/>
            <a:ext cx="4132973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node.js: Node Version Manager (nvm) for Windows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13240" y="1429832"/>
            <a:ext cx="2031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7800" indent="-177800">
              <a:buFont typeface="Arial" panose="020B0604020202020204" pitchFamily="34" charset="0"/>
              <a:buChar char="»"/>
            </a:pPr>
            <a:r>
              <a:rPr lang="en-US" altLang="ko-KR" dirty="0"/>
              <a:t>nvm list</a:t>
            </a:r>
          </a:p>
          <a:p>
            <a:pPr marL="177800" indent="-177800">
              <a:buFont typeface="Arial" panose="020B0604020202020204" pitchFamily="34" charset="0"/>
              <a:buChar char="»"/>
            </a:pPr>
            <a:r>
              <a:rPr lang="en-US" altLang="ko-KR" dirty="0"/>
              <a:t>nvm install 8.9.3</a:t>
            </a:r>
          </a:p>
          <a:p>
            <a:pPr marL="177800" indent="-177800">
              <a:buFont typeface="Arial" panose="020B0604020202020204" pitchFamily="34" charset="0"/>
              <a:buChar char="»"/>
            </a:pPr>
            <a:r>
              <a:rPr lang="en-US" altLang="ko-KR" dirty="0"/>
              <a:t>nvm use 8.9.3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B188BE-B7BA-4616-9EE1-23D1321B4588}"/>
              </a:ext>
            </a:extLst>
          </p:cNvPr>
          <p:cNvSpPr/>
          <p:nvPr/>
        </p:nvSpPr>
        <p:spPr>
          <a:xfrm>
            <a:off x="351934" y="764704"/>
            <a:ext cx="31710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2"/>
              </a:rPr>
              <a:t>https://github.com/coreybutler/nvm-windows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46AC40-8BDB-4298-82E5-9615E024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34" y="1422068"/>
            <a:ext cx="6378600" cy="4536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704CC8-94F9-4545-97CA-4856885739C6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5624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Visual Studio Code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1943596"/>
            <a:ext cx="4141916" cy="42217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627" y="1202579"/>
            <a:ext cx="157806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b="1" dirty="0"/>
              <a:t>Plug Extension</a:t>
            </a:r>
            <a:endParaRPr lang="ko-KR" altLang="en-US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02" y="1943596"/>
            <a:ext cx="4482157" cy="19257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15099" y="1196752"/>
            <a:ext cx="157806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ko-KR" b="1" dirty="0"/>
              <a:t>settings.json</a:t>
            </a:r>
            <a:endParaRPr lang="ko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053E3E-362E-4CF2-97E4-484BE7609397}"/>
              </a:ext>
            </a:extLst>
          </p:cNvPr>
          <p:cNvSpPr/>
          <p:nvPr/>
        </p:nvSpPr>
        <p:spPr>
          <a:xfrm>
            <a:off x="4808984" y="1537047"/>
            <a:ext cx="23875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444444"/>
                </a:solidFill>
                <a:latin typeface="Segoe UI" panose="020B0502040204020203" pitchFamily="34" charset="0"/>
              </a:rPr>
              <a:t>Command Palette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 (</a:t>
            </a:r>
            <a:r>
              <a:rPr lang="en-US" altLang="ko-KR" sz="1200" dirty="0" err="1">
                <a:solidFill>
                  <a:srgbClr val="0072BE"/>
                </a:solidFill>
                <a:latin typeface="Menlo"/>
              </a:rPr>
              <a:t>Ctrl+Shift+P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) </a:t>
            </a:r>
            <a:endParaRPr lang="ko-KR" altLang="en-US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267FB9-4DE3-4574-AC34-DDFD0FA5673A}"/>
              </a:ext>
            </a:extLst>
          </p:cNvPr>
          <p:cNvSpPr/>
          <p:nvPr/>
        </p:nvSpPr>
        <p:spPr>
          <a:xfrm>
            <a:off x="593135" y="1553495"/>
            <a:ext cx="18672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444444"/>
                </a:solidFill>
                <a:latin typeface="Segoe UI" panose="020B0502040204020203" pitchFamily="34" charset="0"/>
              </a:rPr>
              <a:t>Extensions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 (</a:t>
            </a:r>
            <a:r>
              <a:rPr lang="en-US" altLang="ko-KR" sz="1200" dirty="0" err="1">
                <a:solidFill>
                  <a:srgbClr val="0072BE"/>
                </a:solidFill>
                <a:latin typeface="Menlo"/>
              </a:rPr>
              <a:t>Ctrl+Shift+X</a:t>
            </a:r>
            <a:r>
              <a:rPr lang="en-US" altLang="ko-KR" sz="1200" dirty="0">
                <a:solidFill>
                  <a:srgbClr val="444444"/>
                </a:solidFill>
                <a:latin typeface="Segoe UI" panose="020B0502040204020203" pitchFamily="34" charset="0"/>
              </a:rPr>
              <a:t>) </a:t>
            </a:r>
            <a:endParaRPr lang="ko-KR" altLang="en-US" sz="12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CEAF640-CAB1-47E6-84DB-4A5DE40EB183}"/>
              </a:ext>
            </a:extLst>
          </p:cNvPr>
          <p:cNvCxnSpPr/>
          <p:nvPr/>
        </p:nvCxnSpPr>
        <p:spPr>
          <a:xfrm flipV="1">
            <a:off x="416496" y="3789040"/>
            <a:ext cx="360040" cy="43204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D73422D-B17D-40C0-BC6B-910F7B1F945D}"/>
              </a:ext>
            </a:extLst>
          </p:cNvPr>
          <p:cNvSpPr txBox="1"/>
          <p:nvPr/>
        </p:nvSpPr>
        <p:spPr>
          <a:xfrm>
            <a:off x="4029781" y="6581001"/>
            <a:ext cx="1795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4.30, 5.11</a:t>
            </a:r>
            <a:endParaRPr lang="ko-KR" altLang="en-US" sz="1200" dirty="0"/>
          </a:p>
        </p:txBody>
      </p:sp>
      <p:pic>
        <p:nvPicPr>
          <p:cNvPr id="9220" name="Picture 4" descr="visual studio codeì ëí ì´ë¯¸ì§ ê²ìê²°ê³¼">
            <a:extLst>
              <a:ext uri="{FF2B5EF4-FFF2-40B4-BE49-F238E27FC236}">
                <a16:creationId xmlns:a16="http://schemas.microsoft.com/office/drawing/2014/main" id="{8DA8BBDB-2AE7-4D74-B282-559DD06ED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85" y="34925"/>
            <a:ext cx="733037" cy="72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DD4BCA-C42A-4048-93F4-18C952BC0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544832"/>
            <a:ext cx="2961903" cy="687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19682E-3EA0-48C9-B3F1-3DC62F966433}"/>
              </a:ext>
            </a:extLst>
          </p:cNvPr>
          <p:cNvSpPr txBox="1"/>
          <p:nvPr/>
        </p:nvSpPr>
        <p:spPr>
          <a:xfrm>
            <a:off x="344488" y="764704"/>
            <a:ext cx="82702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6"/>
              </a:rPr>
              <a:t>https://code.visualstudio.com/docs/nodejs/reactjs-tutorial</a:t>
            </a:r>
            <a:r>
              <a:rPr lang="en-US" altLang="ko-KR" sz="1200" dirty="0"/>
              <a:t>   </a:t>
            </a:r>
            <a:r>
              <a:rPr lang="en-US" altLang="ko-KR" sz="1200" dirty="0">
                <a:sym typeface="Wingdings" panose="05000000000000000000" pitchFamily="2" charset="2"/>
              </a:rPr>
              <a:t>  MERN (MongoDB, Express, React, Node.js)  </a:t>
            </a:r>
            <a:r>
              <a:rPr lang="en-US" altLang="ko-KR" sz="1200" b="1" dirty="0">
                <a:sym typeface="Wingdings" panose="05000000000000000000" pitchFamily="2" charset="2"/>
              </a:rPr>
              <a:t>Next.js</a:t>
            </a:r>
            <a:endParaRPr lang="ko-KR" altLang="en-US" sz="1200" b="1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41A1751-61E7-4939-8ACC-4FBEE0FFAAF3}"/>
              </a:ext>
            </a:extLst>
          </p:cNvPr>
          <p:cNvCxnSpPr>
            <a:cxnSpLocks/>
          </p:cNvCxnSpPr>
          <p:nvPr/>
        </p:nvCxnSpPr>
        <p:spPr>
          <a:xfrm>
            <a:off x="8121352" y="1037600"/>
            <a:ext cx="72008" cy="272643"/>
          </a:xfrm>
          <a:prstGeom prst="straightConnector1">
            <a:avLst/>
          </a:prstGeom>
          <a:ln w="127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006A89A-0831-49EB-B7DC-95B9EB96F56A}"/>
              </a:ext>
            </a:extLst>
          </p:cNvPr>
          <p:cNvSpPr txBox="1"/>
          <p:nvPr/>
        </p:nvSpPr>
        <p:spPr>
          <a:xfrm>
            <a:off x="7977336" y="1268760"/>
            <a:ext cx="1099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400" dirty="0">
                <a:solidFill>
                  <a:schemeClr val="accent1"/>
                </a:solidFill>
              </a:rPr>
              <a:t>Server-side</a:t>
            </a:r>
          </a:p>
          <a:p>
            <a:pPr marL="457200" indent="-457200"/>
            <a:r>
              <a:rPr lang="en-US" altLang="ko-KR" sz="1400" dirty="0">
                <a:solidFill>
                  <a:schemeClr val="accent1"/>
                </a:solidFill>
              </a:rPr>
              <a:t>rendering</a:t>
            </a:r>
            <a:endParaRPr lang="ko-KR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42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Visual Studio Code: Shortcuts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4488" y="764704"/>
            <a:ext cx="5065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2"/>
              </a:rPr>
              <a:t>https://code.visualstudio.com/shortcuts/keyboard-shortcuts-windows.pdf</a:t>
            </a:r>
            <a:endParaRPr lang="ko-KR" altLang="en-US" sz="12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7" y="1124743"/>
            <a:ext cx="7272809" cy="5617675"/>
          </a:xfrm>
          <a:prstGeom prst="rect">
            <a:avLst/>
          </a:prstGeom>
        </p:spPr>
      </p:pic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320577"/>
              </p:ext>
            </p:extLst>
          </p:nvPr>
        </p:nvGraphicFramePr>
        <p:xfrm>
          <a:off x="8767763" y="430213"/>
          <a:ext cx="9144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4" imgW="914400" imgH="792431" progId="AcroExch.Document.DC">
                  <p:embed/>
                </p:oleObj>
              </mc:Choice>
              <mc:Fallback>
                <p:oleObj name="Acrobat Document" showAsIcon="1" r:id="rId4" imgW="914400" imgH="792431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67763" y="430213"/>
                        <a:ext cx="914400" cy="792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ADE1716-0D9F-4C1D-9799-EC61C1EB452E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97516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Chrome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77189" y="1039343"/>
            <a:ext cx="685828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+mj-lt"/>
              <a:buAutoNum type="arabicPeriod"/>
            </a:pPr>
            <a:r>
              <a:rPr lang="ko-KR" altLang="en-US" sz="1400" dirty="0"/>
              <a:t>크롬</a:t>
            </a:r>
            <a:r>
              <a:rPr lang="en-US" altLang="ko-KR" sz="1400" dirty="0"/>
              <a:t>/</a:t>
            </a:r>
            <a:r>
              <a:rPr lang="ko-KR" altLang="en-US" sz="1400" dirty="0" err="1"/>
              <a:t>도구더보기</a:t>
            </a:r>
            <a:r>
              <a:rPr lang="en-US" altLang="ko-KR" sz="1400" dirty="0"/>
              <a:t>/</a:t>
            </a:r>
            <a:r>
              <a:rPr lang="ko-KR" altLang="en-US" sz="1400" dirty="0"/>
              <a:t>확장프로그램</a:t>
            </a:r>
            <a:r>
              <a:rPr lang="en-US" altLang="ko-KR" sz="1400" dirty="0"/>
              <a:t>/(</a:t>
            </a:r>
            <a:r>
              <a:rPr lang="ko-KR" altLang="en-US" sz="1400" dirty="0"/>
              <a:t>왼쪽</a:t>
            </a:r>
            <a:r>
              <a:rPr lang="en-US" altLang="ko-KR" sz="1400" dirty="0"/>
              <a:t>)</a:t>
            </a:r>
            <a:r>
              <a:rPr lang="ko-KR" altLang="en-US" sz="1400" dirty="0"/>
              <a:t>확장프로그램아이콘</a:t>
            </a:r>
            <a:r>
              <a:rPr lang="en-US" altLang="ko-KR" sz="1400" dirty="0"/>
              <a:t>/Chrome </a:t>
            </a:r>
            <a:r>
              <a:rPr lang="ko-KR" altLang="en-US" sz="1400" dirty="0"/>
              <a:t>웹 스토어 열기</a:t>
            </a:r>
          </a:p>
          <a:p>
            <a:pPr marL="182563" indent="-182563">
              <a:buFont typeface="+mj-lt"/>
              <a:buAutoNum type="arabicPeriod"/>
            </a:pPr>
            <a:r>
              <a:rPr lang="ko-KR" altLang="en-US" sz="1400" dirty="0"/>
              <a:t>스토어 검색</a:t>
            </a:r>
            <a:r>
              <a:rPr lang="en-US" altLang="ko-KR" sz="1400" dirty="0"/>
              <a:t>: react developer tools</a:t>
            </a:r>
          </a:p>
          <a:p>
            <a:pPr marL="182563" indent="-182563">
              <a:buFont typeface="+mj-lt"/>
              <a:buAutoNum type="arabicPeriod"/>
            </a:pPr>
            <a:r>
              <a:rPr lang="en-US" altLang="ko-KR" sz="1400" dirty="0"/>
              <a:t>open development tool: ctrl + shift + </a:t>
            </a:r>
            <a:r>
              <a:rPr lang="en-US" altLang="ko-KR" sz="1400" dirty="0" err="1"/>
              <a:t>i</a:t>
            </a:r>
            <a:endParaRPr lang="en-US" altLang="ko-KR" sz="1400" dirty="0"/>
          </a:p>
          <a:p>
            <a:pPr marL="182563" indent="-182563">
              <a:buFont typeface="+mj-lt"/>
              <a:buAutoNum type="arabicPeriod"/>
            </a:pPr>
            <a:r>
              <a:rPr lang="en-US" altLang="ko-KR" sz="1400" dirty="0"/>
              <a:t>change settings:</a:t>
            </a:r>
            <a:br>
              <a:rPr lang="en-US" altLang="ko-KR" sz="1400" dirty="0"/>
            </a:br>
            <a:r>
              <a:rPr lang="en-US" altLang="ko-KR" sz="1400" dirty="0"/>
              <a:t>1) check Sources/Enable JavaScript source maps,</a:t>
            </a:r>
            <a:br>
              <a:rPr lang="en-US" altLang="ko-KR" sz="1400" dirty="0"/>
            </a:br>
            <a:r>
              <a:rPr lang="en-US" altLang="ko-KR" sz="1400" dirty="0"/>
              <a:t>2) Search in anonymous and content scripts</a:t>
            </a:r>
          </a:p>
          <a:p>
            <a:pPr marL="182563" indent="-182563">
              <a:buFont typeface="+mj-lt"/>
              <a:buAutoNum type="arabicPeriod"/>
            </a:pPr>
            <a:r>
              <a:rPr lang="en-US" altLang="ko-KR" sz="1400" dirty="0"/>
              <a:t>yarn</a:t>
            </a:r>
            <a:r>
              <a:rPr lang="ko-KR" altLang="en-US" sz="1400" dirty="0"/>
              <a:t> </a:t>
            </a:r>
            <a:r>
              <a:rPr lang="en-US" altLang="ko-KR" sz="1400" dirty="0"/>
              <a:t>start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016" y="1604794"/>
            <a:ext cx="3881612" cy="3190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216434" y="6581001"/>
            <a:ext cx="1422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4.26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1D7C64-1106-4D7E-A25E-CEC2CC0E9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656" y="2674077"/>
            <a:ext cx="2880320" cy="3498044"/>
          </a:xfrm>
          <a:prstGeom prst="rect">
            <a:avLst/>
          </a:prstGeom>
        </p:spPr>
      </p:pic>
      <p:pic>
        <p:nvPicPr>
          <p:cNvPr id="8194" name="Picture 2" descr="chromeì ëí ì´ë¯¸ì§ ê²ìê²°ê³¼">
            <a:extLst>
              <a:ext uri="{FF2B5EF4-FFF2-40B4-BE49-F238E27FC236}">
                <a16:creationId xmlns:a16="http://schemas.microsoft.com/office/drawing/2014/main" id="{79426ADC-EBE5-4037-A607-CF3BCA060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605" y="0"/>
            <a:ext cx="900163" cy="90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581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NPM Vs. Yan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3090" y="764704"/>
            <a:ext cx="2611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2"/>
              </a:rPr>
              <a:t>https://infinite.red/files/yarn.pdf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DE1716-0D9F-4C1D-9799-EC61C1EB452E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4198C00A-7510-401E-937E-176E160F93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339633"/>
              </p:ext>
            </p:extLst>
          </p:nvPr>
        </p:nvGraphicFramePr>
        <p:xfrm>
          <a:off x="8718550" y="388930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3" imgW="914400" imgH="792431" progId="AcroExch.Document.DC">
                  <p:embed/>
                </p:oleObj>
              </mc:Choice>
              <mc:Fallback>
                <p:oleObj name="Acrobat Document" showAsIcon="1" r:id="rId3" imgW="914400" imgH="792431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18550" y="388930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2A0E9626-45DF-4C30-B597-9A2442214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4768" y="188639"/>
            <a:ext cx="5544616" cy="641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922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Back-end to Front-end w/ node.js, express, react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DF0B0-57D9-4720-8567-6F979CC44D64}"/>
              </a:ext>
            </a:extLst>
          </p:cNvPr>
          <p:cNvSpPr txBox="1"/>
          <p:nvPr/>
        </p:nvSpPr>
        <p:spPr>
          <a:xfrm>
            <a:off x="4494552" y="6581001"/>
            <a:ext cx="865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2019.4.18</a:t>
            </a:r>
            <a:endParaRPr lang="ko-KR" altLang="en-US" sz="1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E1B901-CF9B-43F6-B172-A1A8D1041B88}"/>
              </a:ext>
            </a:extLst>
          </p:cNvPr>
          <p:cNvSpPr/>
          <p:nvPr/>
        </p:nvSpPr>
        <p:spPr>
          <a:xfrm>
            <a:off x="5096737" y="5733304"/>
            <a:ext cx="1152368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node.js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B30DCE-998A-4098-8308-1AE92C1341C1}"/>
              </a:ext>
            </a:extLst>
          </p:cNvPr>
          <p:cNvSpPr/>
          <p:nvPr/>
        </p:nvSpPr>
        <p:spPr>
          <a:xfrm>
            <a:off x="2432681" y="4221184"/>
            <a:ext cx="216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express-generator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883D9C-009D-4F57-AA1D-84DCCB8AF453}"/>
              </a:ext>
            </a:extLst>
          </p:cNvPr>
          <p:cNvSpPr/>
          <p:nvPr/>
        </p:nvSpPr>
        <p:spPr>
          <a:xfrm>
            <a:off x="6465408" y="4221184"/>
            <a:ext cx="216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create-react-app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9" name="꺾인 연결선 43">
            <a:extLst>
              <a:ext uri="{FF2B5EF4-FFF2-40B4-BE49-F238E27FC236}">
                <a16:creationId xmlns:a16="http://schemas.microsoft.com/office/drawing/2014/main" id="{86E061C6-3483-4DC0-BC33-505D3F057276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rot="5400000" flipH="1" flipV="1">
            <a:off x="6069104" y="4257001"/>
            <a:ext cx="1080120" cy="1872487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43">
            <a:extLst>
              <a:ext uri="{FF2B5EF4-FFF2-40B4-BE49-F238E27FC236}">
                <a16:creationId xmlns:a16="http://schemas.microsoft.com/office/drawing/2014/main" id="{F315B0FF-34B6-488B-8063-B526205DFB2B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rot="16200000" flipV="1">
            <a:off x="4052741" y="4113124"/>
            <a:ext cx="1080120" cy="2160240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2B8194-EF8C-4DF7-8D0E-AEF0F8FDCBE7}"/>
              </a:ext>
            </a:extLst>
          </p:cNvPr>
          <p:cNvSpPr/>
          <p:nvPr/>
        </p:nvSpPr>
        <p:spPr>
          <a:xfrm>
            <a:off x="2608025" y="2708920"/>
            <a:ext cx="180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Express App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5826F8-823F-4B07-8E0E-16FE0B894DDA}"/>
              </a:ext>
            </a:extLst>
          </p:cNvPr>
          <p:cNvSpPr/>
          <p:nvPr/>
        </p:nvSpPr>
        <p:spPr>
          <a:xfrm>
            <a:off x="6650873" y="2708920"/>
            <a:ext cx="180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React App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5" name="꺾인 연결선 43">
            <a:extLst>
              <a:ext uri="{FF2B5EF4-FFF2-40B4-BE49-F238E27FC236}">
                <a16:creationId xmlns:a16="http://schemas.microsoft.com/office/drawing/2014/main" id="{A05DF2E1-D9AC-42D1-BD92-1E06FBB42A55}"/>
              </a:ext>
            </a:extLst>
          </p:cNvPr>
          <p:cNvCxnSpPr>
            <a:cxnSpLocks/>
            <a:stCxn id="7" idx="0"/>
            <a:endCxn id="17" idx="2"/>
          </p:cNvCxnSpPr>
          <p:nvPr/>
        </p:nvCxnSpPr>
        <p:spPr>
          <a:xfrm rot="16200000" flipV="1">
            <a:off x="2970221" y="3678724"/>
            <a:ext cx="1080264" cy="4656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43">
            <a:extLst>
              <a:ext uri="{FF2B5EF4-FFF2-40B4-BE49-F238E27FC236}">
                <a16:creationId xmlns:a16="http://schemas.microsoft.com/office/drawing/2014/main" id="{4E163363-775B-4CA9-A957-684A4385E9E7}"/>
              </a:ext>
            </a:extLst>
          </p:cNvPr>
          <p:cNvCxnSpPr>
            <a:cxnSpLocks/>
            <a:stCxn id="8" idx="0"/>
            <a:endCxn id="18" idx="2"/>
          </p:cNvCxnSpPr>
          <p:nvPr/>
        </p:nvCxnSpPr>
        <p:spPr>
          <a:xfrm rot="5400000" flipH="1" flipV="1">
            <a:off x="7008008" y="3678320"/>
            <a:ext cx="1080264" cy="5465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3782329-3345-4EBD-BD19-293D3BC1CD17}"/>
              </a:ext>
            </a:extLst>
          </p:cNvPr>
          <p:cNvSpPr/>
          <p:nvPr/>
        </p:nvSpPr>
        <p:spPr>
          <a:xfrm>
            <a:off x="6835489" y="1412776"/>
            <a:ext cx="144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Web 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688C88-ADAD-4A06-A308-5EFB6FEBE94F}"/>
              </a:ext>
            </a:extLst>
          </p:cNvPr>
          <p:cNvSpPr/>
          <p:nvPr/>
        </p:nvSpPr>
        <p:spPr>
          <a:xfrm>
            <a:off x="2786252" y="1412776"/>
            <a:ext cx="144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Web 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꺾인 연결선 43">
            <a:extLst>
              <a:ext uri="{FF2B5EF4-FFF2-40B4-BE49-F238E27FC236}">
                <a16:creationId xmlns:a16="http://schemas.microsoft.com/office/drawing/2014/main" id="{DB8778AD-7F3D-4AD9-A604-0E4759580FA4}"/>
              </a:ext>
            </a:extLst>
          </p:cNvPr>
          <p:cNvCxnSpPr>
            <a:cxnSpLocks/>
            <a:stCxn id="17" idx="0"/>
            <a:endCxn id="32" idx="2"/>
          </p:cNvCxnSpPr>
          <p:nvPr/>
        </p:nvCxnSpPr>
        <p:spPr>
          <a:xfrm rot="16200000" flipV="1">
            <a:off x="3075067" y="2275961"/>
            <a:ext cx="864144" cy="1773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43">
            <a:extLst>
              <a:ext uri="{FF2B5EF4-FFF2-40B4-BE49-F238E27FC236}">
                <a16:creationId xmlns:a16="http://schemas.microsoft.com/office/drawing/2014/main" id="{B3BB9351-5CE8-41CB-9948-B334892B9054}"/>
              </a:ext>
            </a:extLst>
          </p:cNvPr>
          <p:cNvCxnSpPr>
            <a:cxnSpLocks/>
            <a:stCxn id="18" idx="0"/>
            <a:endCxn id="31" idx="2"/>
          </p:cNvCxnSpPr>
          <p:nvPr/>
        </p:nvCxnSpPr>
        <p:spPr>
          <a:xfrm rot="5400000" flipH="1" flipV="1">
            <a:off x="7121109" y="2274540"/>
            <a:ext cx="864144" cy="4616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5F6FE47-87E2-4031-9C06-0B689341E2F2}"/>
              </a:ext>
            </a:extLst>
          </p:cNvPr>
          <p:cNvSpPr/>
          <p:nvPr/>
        </p:nvSpPr>
        <p:spPr>
          <a:xfrm>
            <a:off x="4809105" y="1412776"/>
            <a:ext cx="1440000" cy="432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Web page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7" name="꺾인 연결선 43">
            <a:extLst>
              <a:ext uri="{FF2B5EF4-FFF2-40B4-BE49-F238E27FC236}">
                <a16:creationId xmlns:a16="http://schemas.microsoft.com/office/drawing/2014/main" id="{2CDE0182-6356-465D-8DF6-E360A5648796}"/>
              </a:ext>
            </a:extLst>
          </p:cNvPr>
          <p:cNvCxnSpPr>
            <a:cxnSpLocks/>
            <a:stCxn id="17" idx="0"/>
            <a:endCxn id="46" idx="2"/>
          </p:cNvCxnSpPr>
          <p:nvPr/>
        </p:nvCxnSpPr>
        <p:spPr>
          <a:xfrm rot="5400000" flipH="1" flipV="1">
            <a:off x="4086493" y="1266308"/>
            <a:ext cx="864144" cy="2021080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3">
            <a:extLst>
              <a:ext uri="{FF2B5EF4-FFF2-40B4-BE49-F238E27FC236}">
                <a16:creationId xmlns:a16="http://schemas.microsoft.com/office/drawing/2014/main" id="{9093CE10-1B30-4153-9801-0FE478D17812}"/>
              </a:ext>
            </a:extLst>
          </p:cNvPr>
          <p:cNvCxnSpPr>
            <a:cxnSpLocks/>
            <a:stCxn id="18" idx="0"/>
            <a:endCxn id="46" idx="2"/>
          </p:cNvCxnSpPr>
          <p:nvPr/>
        </p:nvCxnSpPr>
        <p:spPr>
          <a:xfrm rot="16200000" flipV="1">
            <a:off x="6107917" y="1265964"/>
            <a:ext cx="864144" cy="2021768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E405C72-2813-41BA-BBA1-D5F12670A251}"/>
              </a:ext>
            </a:extLst>
          </p:cNvPr>
          <p:cNvCxnSpPr/>
          <p:nvPr/>
        </p:nvCxnSpPr>
        <p:spPr>
          <a:xfrm>
            <a:off x="704528" y="5373216"/>
            <a:ext cx="8352928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8E9EE8D-F908-43E3-99CA-1CBC37710611}"/>
              </a:ext>
            </a:extLst>
          </p:cNvPr>
          <p:cNvCxnSpPr/>
          <p:nvPr/>
        </p:nvCxnSpPr>
        <p:spPr>
          <a:xfrm>
            <a:off x="704528" y="3717032"/>
            <a:ext cx="8352928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E51B900-CF4A-4152-8F3F-10CA5E7B8519}"/>
              </a:ext>
            </a:extLst>
          </p:cNvPr>
          <p:cNvSpPr txBox="1"/>
          <p:nvPr/>
        </p:nvSpPr>
        <p:spPr>
          <a:xfrm>
            <a:off x="704528" y="5805264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Back-End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8D1C06-4F4A-45D5-B5B9-C57206692B9C}"/>
              </a:ext>
            </a:extLst>
          </p:cNvPr>
          <p:cNvSpPr txBox="1"/>
          <p:nvPr/>
        </p:nvSpPr>
        <p:spPr>
          <a:xfrm>
            <a:off x="707501" y="4293096"/>
            <a:ext cx="1441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Middle-End</a:t>
            </a:r>
          </a:p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(Middleware)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C529A2-3839-4CCB-8CB7-74CBD13929A7}"/>
              </a:ext>
            </a:extLst>
          </p:cNvPr>
          <p:cNvSpPr txBox="1"/>
          <p:nvPr/>
        </p:nvSpPr>
        <p:spPr>
          <a:xfrm>
            <a:off x="704528" y="2924944"/>
            <a:ext cx="1164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en-US" altLang="ko-KR" sz="1600" b="1" dirty="0">
                <a:solidFill>
                  <a:srgbClr val="C00000"/>
                </a:solidFill>
              </a:rPr>
              <a:t>Front-End</a:t>
            </a:r>
            <a:endParaRPr lang="ko-KR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5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Features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124744"/>
            <a:ext cx="8462573" cy="4196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Fast rendering; good for real time display of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Use virtual DOM for fast rendering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Component based development: Integration of Markup, JavaScript code, Style</a:t>
            </a:r>
          </a:p>
          <a:p>
            <a:pPr marL="541338" lvl="1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JSX (JavaScript XML) for markup integration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Combination of UI, not inheritance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SPA (Single page application); easy to make hybrid app</a:t>
            </a:r>
          </a:p>
          <a:p>
            <a:pPr marL="541338" lvl="1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hybrid app: web-based desktop application, electron (visual studio code)</a:t>
            </a:r>
            <a:br>
              <a:rPr lang="en-US" altLang="ko-KR" dirty="0"/>
            </a:br>
            <a:r>
              <a:rPr lang="en-US" altLang="ko-KR" dirty="0"/>
              <a:t>1) well made library for state management (Redux, Mobx)</a:t>
            </a:r>
            <a:br>
              <a:rPr lang="en-US" altLang="ko-KR" dirty="0"/>
            </a:br>
            <a:r>
              <a:rPr lang="en-US" altLang="ko-KR" dirty="0"/>
              <a:t>2) good library for routing management (react-router)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One-way data binding to UI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DF0B0-57D9-4720-8567-6F979CC44D6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7793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ReactJS</a:t>
            </a:r>
            <a:br>
              <a:rPr lang="en-US" altLang="ko-KR" dirty="0">
                <a:latin typeface="Impact" panose="020B0806030902050204" pitchFamily="34" charset="0"/>
              </a:rPr>
            </a:br>
            <a:r>
              <a:rPr lang="en-US" altLang="ko-KR" sz="4000" dirty="0">
                <a:latin typeface="Impact" panose="020B0806030902050204" pitchFamily="34" charset="0"/>
              </a:rPr>
              <a:t>- Chapter 1 -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60800"/>
            <a:ext cx="6934200" cy="17780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8194" name="Picture 2" descr="reactì ëí ì´ë¯¸ì§ ê²ìê²°ê³¼">
            <a:extLst>
              <a:ext uri="{FF2B5EF4-FFF2-40B4-BE49-F238E27FC236}">
                <a16:creationId xmlns:a16="http://schemas.microsoft.com/office/drawing/2014/main" id="{330A292F-776F-4D3C-9D27-4D4448E7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40466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19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Global Modules in node.js</a:t>
            </a:r>
            <a:endParaRPr lang="ko-KR" altLang="en-US" baseline="30000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037019"/>
            <a:ext cx="5703806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b="1" dirty="0">
                <a:solidFill>
                  <a:prstClr val="black"/>
                </a:solidFill>
              </a:rPr>
              <a:t>yarn</a:t>
            </a:r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solidFill>
                  <a:prstClr val="black"/>
                </a:solidFill>
                <a:latin typeface="Consolas" panose="020B0609020204030204" pitchFamily="49" charset="0"/>
              </a:rPr>
              <a:t>npm install –g yarn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Manual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2"/>
              </a:rPr>
              <a:t>https://infinite.red/files/yarn.pdf</a:t>
            </a: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/>
            <a:endParaRPr lang="en-US" altLang="ko-KR" b="1" dirty="0">
              <a:solidFill>
                <a:prstClr val="black"/>
              </a:solidFill>
            </a:endParaRPr>
          </a:p>
          <a:p>
            <a:pPr lvl="0"/>
            <a:r>
              <a:rPr lang="en-US" altLang="ko-KR" b="1" dirty="0">
                <a:solidFill>
                  <a:prstClr val="black"/>
                </a:solidFill>
              </a:rPr>
              <a:t>Create React App</a:t>
            </a:r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solidFill>
                  <a:prstClr val="black"/>
                </a:solidFill>
                <a:latin typeface="Consolas" panose="020B0609020204030204" pitchFamily="49" charset="0"/>
              </a:rPr>
              <a:t>npm install -g create-react-app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Document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3"/>
              </a:rPr>
              <a:t>https://facebook.github.io/create-react-app/docs/getting-started</a:t>
            </a:r>
            <a:endParaRPr lang="en-US" altLang="ko-KR" sz="1400" dirty="0"/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69AC9-1E97-4DF8-8527-F6C04BFDEF0F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6910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Local Modules: Create React App Project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340768"/>
            <a:ext cx="7491153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Create React App is an officially supported way to create single-page React applications.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Quick Start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create react-app my-app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cd my-app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&lt;module&gt;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start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yarn run start or » yarn start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[chrome browser] localhost:3000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Install modules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bootstrap@4.x.x react-bootstrap@1.x.x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immer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yarn add immutability-helper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redux react-redux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redux-</a:t>
            </a:r>
            <a:r>
              <a:rPr lang="en-US" altLang="ko-KR" sz="1400" dirty="0" err="1">
                <a:latin typeface="Consolas" panose="020B0609020204030204" pitchFamily="49" charset="0"/>
              </a:rPr>
              <a:t>thunk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–D redux-immutable-state-invariant redux-</a:t>
            </a:r>
            <a:r>
              <a:rPr lang="en-US" altLang="ko-KR" sz="1400" dirty="0" err="1">
                <a:latin typeface="Consolas" panose="020B0609020204030204" pitchFamily="49" charset="0"/>
              </a:rPr>
              <a:t>devtools</a:t>
            </a:r>
            <a:r>
              <a:rPr lang="en-US" altLang="ko-KR" sz="1400" dirty="0">
                <a:latin typeface="Consolas" panose="020B0609020204030204" pitchFamily="49" charset="0"/>
              </a:rPr>
              <a:t>-extension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react-router react-router-</a:t>
            </a:r>
            <a:r>
              <a:rPr lang="en-US" altLang="ko-KR" sz="1400" dirty="0" err="1">
                <a:latin typeface="Consolas" panose="020B0609020204030204" pitchFamily="49" charset="0"/>
              </a:rPr>
              <a:t>dom</a:t>
            </a:r>
            <a:r>
              <a:rPr lang="en-US" altLang="ko-KR" sz="1400" dirty="0">
                <a:latin typeface="Consolas" panose="020B0609020204030204" pitchFamily="49" charset="0"/>
              </a:rPr>
              <a:t> react-router-config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@material-</a:t>
            </a:r>
            <a:r>
              <a:rPr lang="en-US" altLang="ko-KR" sz="1400" dirty="0" err="1">
                <a:latin typeface="Consolas" panose="020B0609020204030204" pitchFamily="49" charset="0"/>
              </a:rPr>
              <a:t>ui</a:t>
            </a:r>
            <a:r>
              <a:rPr lang="en-US" altLang="ko-KR" sz="1400" dirty="0">
                <a:latin typeface="Consolas" panose="020B0609020204030204" pitchFamily="49" charset="0"/>
              </a:rPr>
              <a:t>/core @material-</a:t>
            </a:r>
            <a:r>
              <a:rPr lang="en-US" altLang="ko-KR" sz="1400" dirty="0" err="1">
                <a:latin typeface="Consolas" panose="020B0609020204030204" pitchFamily="49" charset="0"/>
              </a:rPr>
              <a:t>ui</a:t>
            </a:r>
            <a:r>
              <a:rPr lang="en-US" altLang="ko-KR" sz="1400" dirty="0">
                <a:latin typeface="Consolas" panose="020B0609020204030204" pitchFamily="49" charset="0"/>
              </a:rPr>
              <a:t>/icons @material-</a:t>
            </a:r>
            <a:r>
              <a:rPr lang="en-US" altLang="ko-KR" sz="1400" dirty="0" err="1">
                <a:latin typeface="Consolas" panose="020B0609020204030204" pitchFamily="49" charset="0"/>
              </a:rPr>
              <a:t>ui</a:t>
            </a:r>
            <a:r>
              <a:rPr lang="en-US" altLang="ko-KR" sz="1400" dirty="0">
                <a:latin typeface="Consolas" panose="020B0609020204030204" pitchFamily="49" charset="0"/>
              </a:rPr>
              <a:t>/docs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</a:t>
            </a:r>
            <a:r>
              <a:rPr lang="ko-KR" altLang="en-US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latin typeface="Consolas" panose="020B0609020204030204" pitchFamily="49" charset="0"/>
              </a:rPr>
              <a:t>add</a:t>
            </a:r>
            <a:r>
              <a:rPr lang="ko-KR" altLang="en-US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recharts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–exact react-script@2.1.8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1F21445-6D02-475D-B343-E9932C49065E}"/>
              </a:ext>
            </a:extLst>
          </p:cNvPr>
          <p:cNvSpPr/>
          <p:nvPr/>
        </p:nvSpPr>
        <p:spPr>
          <a:xfrm>
            <a:off x="297378" y="831850"/>
            <a:ext cx="51555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https://facebook.github.io/create-react-app/docs/getting-started</a:t>
            </a:r>
            <a:endParaRPr lang="ko-KR" altLang="en-US" sz="1400" dirty="0"/>
          </a:p>
        </p:txBody>
      </p:sp>
      <p:sp>
        <p:nvSpPr>
          <p:cNvPr id="14" name="말풍선: 타원형 13">
            <a:extLst>
              <a:ext uri="{FF2B5EF4-FFF2-40B4-BE49-F238E27FC236}">
                <a16:creationId xmlns:a16="http://schemas.microsoft.com/office/drawing/2014/main" id="{CA5E8A7F-394D-48D1-87DA-8A2097C98768}"/>
              </a:ext>
            </a:extLst>
          </p:cNvPr>
          <p:cNvSpPr/>
          <p:nvPr/>
        </p:nvSpPr>
        <p:spPr>
          <a:xfrm>
            <a:off x="5241032" y="2204864"/>
            <a:ext cx="1420468" cy="908864"/>
          </a:xfrm>
          <a:prstGeom prst="wedgeEllipseCallout">
            <a:avLst>
              <a:gd name="adj1" fmla="val -94679"/>
              <a:gd name="adj2" fmla="val 27023"/>
            </a:avLst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2"/>
                </a:solidFill>
              </a:rPr>
              <a:t>refer to</a:t>
            </a:r>
            <a:br>
              <a:rPr lang="en-US" altLang="ko-KR" sz="1400" dirty="0">
                <a:solidFill>
                  <a:schemeClr val="tx2"/>
                </a:solidFill>
              </a:rPr>
            </a:br>
            <a:r>
              <a:rPr lang="en-US" altLang="ko-KR" sz="1400" dirty="0">
                <a:solidFill>
                  <a:schemeClr val="tx2"/>
                </a:solidFill>
              </a:rPr>
              <a:t>package.json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2997362" y="6581001"/>
            <a:ext cx="3860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4.8, 4.9, 4.22, 4.24 ,4.27, 4.29, 4.30, 5.9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2949E-8FDF-4CC0-9C2A-B12C67F71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312" y="1637563"/>
            <a:ext cx="1758451" cy="3082629"/>
          </a:xfrm>
          <a:prstGeom prst="rect">
            <a:avLst/>
          </a:prstGeo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25228FE-4D9C-4BAE-9E7A-A9F3F8DD6220}"/>
              </a:ext>
            </a:extLst>
          </p:cNvPr>
          <p:cNvCxnSpPr/>
          <p:nvPr/>
        </p:nvCxnSpPr>
        <p:spPr>
          <a:xfrm>
            <a:off x="4808984" y="5229200"/>
            <a:ext cx="18525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EBCAA3B-C49A-4DEC-9654-08FC2CB1931C}"/>
              </a:ext>
            </a:extLst>
          </p:cNvPr>
          <p:cNvCxnSpPr>
            <a:cxnSpLocks/>
          </p:cNvCxnSpPr>
          <p:nvPr/>
        </p:nvCxnSpPr>
        <p:spPr>
          <a:xfrm flipH="1" flipV="1">
            <a:off x="6825209" y="5223352"/>
            <a:ext cx="792087" cy="6965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651DE97-D29F-4B1D-8782-DCC406CB5772}"/>
              </a:ext>
            </a:extLst>
          </p:cNvPr>
          <p:cNvSpPr txBox="1"/>
          <p:nvPr/>
        </p:nvSpPr>
        <p:spPr>
          <a:xfrm>
            <a:off x="7642379" y="5157192"/>
            <a:ext cx="1510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2"/>
                </a:solidFill>
              </a:rPr>
              <a:t>included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in</a:t>
            </a:r>
            <a:br>
              <a:rPr lang="en-US" altLang="ko-KR" sz="1400" dirty="0">
                <a:solidFill>
                  <a:schemeClr val="tx2"/>
                </a:solidFill>
              </a:rPr>
            </a:br>
            <a:r>
              <a:rPr lang="en-US" altLang="ko-KR" sz="1400" dirty="0">
                <a:solidFill>
                  <a:schemeClr val="tx2"/>
                </a:solidFill>
              </a:rPr>
              <a:t>react-router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5.0+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803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A793CD-BC6E-44F5-B8B4-D4AB4A1B28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612"/>
          <a:stretch/>
        </p:blipFill>
        <p:spPr>
          <a:xfrm>
            <a:off x="2648744" y="895905"/>
            <a:ext cx="7158364" cy="238907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7A431EF-7C7A-43C3-8C8C-D92EC9A470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6" r="3007" b="1526"/>
          <a:stretch/>
        </p:blipFill>
        <p:spPr>
          <a:xfrm>
            <a:off x="272480" y="908050"/>
            <a:ext cx="2304256" cy="567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33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index.js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B5027A-4081-47A0-AF39-BFCAB725C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878314"/>
            <a:ext cx="616267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0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routes.js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D145DE-5A0B-41E0-947A-0D7DA0A4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89" y="952872"/>
            <a:ext cx="69627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03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constant.js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D88CD6-5D04-4FBD-AEDF-F19D0ACDD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919482"/>
            <a:ext cx="35147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96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Hello-React-Redux: ButtonDemoActionCreator.js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75C2EB-2A73-464E-B0E5-238BB55DB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908050"/>
            <a:ext cx="664845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07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MyStore.js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F017CA-8C16-44CF-AE6B-CC8837AF4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59371"/>
            <a:ext cx="64103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071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ButtonDemoReducer.js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7D7600-CB63-4C60-9DFB-DF240638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08720"/>
            <a:ext cx="90487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85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App.js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3D11CB-6657-47C1-85F2-894A6F46C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908050"/>
            <a:ext cx="47053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0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Header.js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6B18A2-EAA6-4C52-B3D2-78876236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72" y="908050"/>
            <a:ext cx="9309297" cy="41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64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Main.js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4C69-7D50-4427-AC51-F2F55F1D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08050"/>
            <a:ext cx="56007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28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ButtonDemoContainer.js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FD9903-B6AE-425E-8A33-6340F3A9B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61" y="908720"/>
            <a:ext cx="95535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51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0" y="0"/>
            <a:ext cx="9359900" cy="908050"/>
          </a:xfrm>
        </p:spPr>
        <p:txBody>
          <a:bodyPr>
            <a:normAutofit/>
          </a:bodyPr>
          <a:lstStyle/>
          <a:p>
            <a:r>
              <a:rPr lang="en-US" altLang="ko-KR" dirty="0"/>
              <a:t>Hello-React-Redux: ButtonDemo.js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587819-1786-4054-9EBE-42FA15E5D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764703"/>
            <a:ext cx="7052660" cy="51125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339055C-DCD9-4187-9D86-14E92350F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832" y="4819461"/>
            <a:ext cx="4248472" cy="126581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207093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Home.js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BC8179-0C76-4A49-A5DF-A077C693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88" y="908050"/>
            <a:ext cx="55911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11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About.js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BC8FE8-CDA8-4FF5-93FA-DE7F56FEA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9" y="924058"/>
            <a:ext cx="447675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787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Hello-React-Redux: NotFound.js   </a:t>
            </a:r>
            <a:r>
              <a:rPr lang="en-US" altLang="ko-KR" baseline="30000" dirty="0"/>
              <a:t>1/14</a:t>
            </a:r>
            <a:endParaRPr lang="ko-KR" altLang="en-US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D38CA-9D9C-4B6E-9AC5-9211D9170FBB}"/>
              </a:ext>
            </a:extLst>
          </p:cNvPr>
          <p:cNvSpPr txBox="1"/>
          <p:nvPr/>
        </p:nvSpPr>
        <p:spPr>
          <a:xfrm>
            <a:off x="4340671" y="6581001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2019.4.22 - 23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0078E3-E15E-459D-9C90-2FFF620AB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908050"/>
            <a:ext cx="46386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70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ReactJS</a:t>
            </a:r>
            <a:br>
              <a:rPr lang="en-US" altLang="ko-KR" dirty="0">
                <a:latin typeface="Impact" panose="020B0806030902050204" pitchFamily="34" charset="0"/>
              </a:rPr>
            </a:br>
            <a:r>
              <a:rPr lang="en-US" altLang="ko-KR" sz="4000" dirty="0">
                <a:latin typeface="Impact" panose="020B0806030902050204" pitchFamily="34" charset="0"/>
              </a:rPr>
              <a:t>- Chapter 2 -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60800"/>
            <a:ext cx="6934200" cy="1778000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8194" name="Picture 2" descr="reactì ëí ì´ë¯¸ì§ ê²ìê²°ê³¼">
            <a:extLst>
              <a:ext uri="{FF2B5EF4-FFF2-40B4-BE49-F238E27FC236}">
                <a16:creationId xmlns:a16="http://schemas.microsoft.com/office/drawing/2014/main" id="{330A292F-776F-4D3C-9D27-4D4448E7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40466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203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React-Router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07403" y="723384"/>
            <a:ext cx="37270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https://github.com/ReactTraining/react-router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2E4F2A-D5E9-4F9E-8273-9F347DABF88C}"/>
              </a:ext>
            </a:extLst>
          </p:cNvPr>
          <p:cNvSpPr txBox="1"/>
          <p:nvPr/>
        </p:nvSpPr>
        <p:spPr>
          <a:xfrm>
            <a:off x="4537032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2019.4.9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C40C17-FFFD-4C18-B422-A625AD3EF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15" y="1196753"/>
            <a:ext cx="7684329" cy="180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21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</a:t>
            </a:r>
            <a:r>
              <a:rPr lang="ko-KR" altLang="en-US" dirty="0"/>
              <a:t> </a:t>
            </a:r>
            <a:r>
              <a:rPr lang="en-US" altLang="ko-KR" dirty="0"/>
              <a:t>show</a:t>
            </a:r>
            <a:r>
              <a:rPr lang="ko-KR" altLang="en-US" dirty="0"/>
              <a:t> </a:t>
            </a:r>
            <a:r>
              <a:rPr lang="en-US" altLang="ko-KR" dirty="0"/>
              <a:t>React App in ie11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8854" y="6581001"/>
            <a:ext cx="1077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2019.5.9 - 11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2885" y="927607"/>
            <a:ext cx="83545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3"/>
              </a:rPr>
              <a:t>https://github.com/facebook/create-react-app/tree/master/packages/react-app-polyfill</a:t>
            </a:r>
            <a:endParaRPr lang="en-US" altLang="ko-KR" sz="1200" dirty="0"/>
          </a:p>
          <a:p>
            <a:r>
              <a:rPr lang="en-US" altLang="ko-KR" sz="1200" dirty="0">
                <a:hlinkClick r:id="rId4"/>
              </a:rPr>
              <a:t>https://stackoverflow.com/questions/25557299/internet-explorer-11-disable-display-intranet-sites-in-compatibility-view-via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616020"/>
            <a:ext cx="907300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install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</a:t>
            </a:r>
            <a:r>
              <a:rPr lang="en-US" altLang="ko-KR" sz="1400" dirty="0" err="1">
                <a:latin typeface="Consolas" panose="020B0609020204030204" pitchFamily="49" charset="0"/>
              </a:rPr>
              <a:t>npm</a:t>
            </a:r>
            <a:r>
              <a:rPr lang="en-US" altLang="ko-KR" sz="1400" dirty="0">
                <a:latin typeface="Consolas" panose="020B0609020204030204" pitchFamily="49" charset="0"/>
              </a:rPr>
              <a:t> install 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--exact react-scripts@2.1.8</a:t>
            </a:r>
            <a:br>
              <a:rPr lang="en-US" altLang="ko-KR" sz="1400" dirty="0">
                <a:latin typeface="Consolas" panose="020B0609020204030204" pitchFamily="49" charset="0"/>
              </a:rPr>
            </a:br>
            <a:r>
              <a:rPr lang="en-US" altLang="ko-KR" sz="1400" dirty="0">
                <a:latin typeface="Consolas" panose="020B0609020204030204" pitchFamily="49" charset="0"/>
              </a:rPr>
              <a:t>or » </a:t>
            </a:r>
            <a:r>
              <a:rPr lang="en-US" altLang="ko-KR" sz="1400" dirty="0" err="1">
                <a:latin typeface="Consolas" panose="020B0609020204030204" pitchFamily="49" charset="0"/>
              </a:rPr>
              <a:t>npm</a:t>
            </a:r>
            <a:r>
              <a:rPr lang="en-US" altLang="ko-KR" sz="1400" dirty="0">
                <a:latin typeface="Consolas" panose="020B0609020204030204" pitchFamily="49" charset="0"/>
              </a:rPr>
              <a:t> install --save --save-exact react-scripts@2.1.8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361950" lvl="1"/>
            <a:r>
              <a:rPr lang="en-US" altLang="ko-KR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* Don’t use ‘reat-script@3.3.0’; use @2.1.8 instead</a:t>
            </a:r>
          </a:p>
          <a:p>
            <a:pPr marL="361950" lvl="1"/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Add to the first line of 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/index.js [1]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'react-app-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r>
              <a:rPr lang="en-US" altLang="ko-KR" sz="1400" dirty="0">
                <a:latin typeface="Consolas" panose="020B0609020204030204" pitchFamily="49" charset="0"/>
              </a:rPr>
              <a:t>/ie11’;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'react-app-</a:t>
            </a:r>
            <a:r>
              <a:rPr lang="en-US" altLang="ko-KR" sz="1400" dirty="0" err="1">
                <a:latin typeface="Consolas" panose="020B0609020204030204" pitchFamily="49" charset="0"/>
              </a:rPr>
              <a:t>polyfill</a:t>
            </a:r>
            <a:r>
              <a:rPr lang="en-US" altLang="ko-KR" sz="1400" dirty="0">
                <a:latin typeface="Consolas" panose="020B0609020204030204" pitchFamily="49" charset="0"/>
              </a:rPr>
              <a:t>/stable’;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Add to public/index.html [2]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it-IT" altLang="ko-KR" sz="1400" dirty="0">
                <a:latin typeface="Consolas" panose="020B0609020204030204" pitchFamily="49" charset="0"/>
              </a:rPr>
              <a:t>&lt;meta http-equiv="X-UA-Compatible" content="IE=EDGE" /&gt;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Build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build</a:t>
            </a:r>
          </a:p>
        </p:txBody>
      </p:sp>
    </p:spTree>
    <p:extLst>
      <p:ext uri="{BB962C8B-B14F-4D97-AF65-F5344CB8AC3E}">
        <p14:creationId xmlns:p14="http://schemas.microsoft.com/office/powerpoint/2010/main" val="514327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0" y="0"/>
            <a:ext cx="9632950" cy="908050"/>
          </a:xfrm>
          <a:noFill/>
        </p:spPr>
        <p:txBody>
          <a:bodyPr>
            <a:normAutofit/>
          </a:bodyPr>
          <a:lstStyle/>
          <a:p>
            <a:r>
              <a:rPr lang="en-US" altLang="ko-KR" dirty="0"/>
              <a:t>How to</a:t>
            </a:r>
            <a:r>
              <a:rPr lang="ko-KR" altLang="en-US" dirty="0"/>
              <a:t> </a:t>
            </a:r>
            <a:r>
              <a:rPr lang="en-US" altLang="ko-KR" dirty="0"/>
              <a:t>build relative path (base URL) of React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3147" y="6581001"/>
            <a:ext cx="1088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2019.5.9 - 10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4488" y="927607"/>
            <a:ext cx="4477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3"/>
              </a:rPr>
              <a:t>[1] https://facebook.github.io/create-react-app/docs/deployment</a:t>
            </a:r>
            <a:endParaRPr lang="en-US" altLang="ko-KR" sz="1200" dirty="0">
              <a:hlinkClick r:id="rId4"/>
            </a:endParaRPr>
          </a:p>
          <a:p>
            <a:r>
              <a:rPr lang="en-US" altLang="ko-KR" sz="1200" dirty="0">
                <a:hlinkClick r:id="rId4"/>
              </a:rPr>
              <a:t>[2] https://reacttraining.com/react-router/web/api</a:t>
            </a:r>
            <a:endParaRPr lang="en-US" altLang="ko-KR" sz="1200" dirty="0"/>
          </a:p>
          <a:p>
            <a:r>
              <a:rPr lang="en-US" altLang="ko-KR" sz="1200" dirty="0"/>
              <a:t>[3] e-mail communication with </a:t>
            </a:r>
            <a:r>
              <a:rPr lang="ko-KR" altLang="en-US" sz="1200" dirty="0" err="1"/>
              <a:t>원형섭강사</a:t>
            </a:r>
            <a:r>
              <a:rPr lang="ko-KR" altLang="en-US" sz="1200" dirty="0"/>
              <a:t> </a:t>
            </a:r>
            <a:r>
              <a:rPr lang="en-US" altLang="ko-KR" sz="1200" dirty="0"/>
              <a:t>in April 2019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830303"/>
            <a:ext cx="418415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Edit </a:t>
            </a:r>
            <a:r>
              <a:rPr lang="en-US" altLang="ko-KR" sz="1400" dirty="0" err="1"/>
              <a:t>src</a:t>
            </a:r>
            <a:r>
              <a:rPr lang="en-US" altLang="ko-KR" sz="1400" dirty="0"/>
              <a:t>/index.js  [1, 2]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&lt;Router </a:t>
            </a:r>
            <a:r>
              <a:rPr lang="en-US" altLang="ko-KR" sz="1400" dirty="0" err="1">
                <a:latin typeface="Consolas" panose="020B0609020204030204" pitchFamily="49" charset="0"/>
              </a:rPr>
              <a:t>basename</a:t>
            </a:r>
            <a:r>
              <a:rPr lang="en-US" altLang="ko-KR" sz="1400" dirty="0">
                <a:latin typeface="Consolas" panose="020B0609020204030204" pitchFamily="49" charset="0"/>
              </a:rPr>
              <a:t>=“gym”&gt;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&lt;/Router&gt;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Add to </a:t>
            </a:r>
            <a:r>
              <a:rPr lang="en-US" altLang="ko-KR" sz="1400" dirty="0" err="1"/>
              <a:t>package.json</a:t>
            </a: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“homepage”: “.”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Use react-scripts@2.18; Do not use @.3.0.0  [3]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F714B2-5EC6-49A5-8497-B0B7539C6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1072" y="4130193"/>
            <a:ext cx="2428875" cy="13858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3F32783-2102-4386-85B0-788D2FCBE2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1072" y="980728"/>
            <a:ext cx="3748088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369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</a:t>
            </a:r>
            <a:r>
              <a:rPr lang="ko-KR" altLang="en-US" dirty="0"/>
              <a:t> </a:t>
            </a:r>
            <a:r>
              <a:rPr lang="en-US" altLang="ko-KR" dirty="0"/>
              <a:t>test React App with backend: node.js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8855" y="6581001"/>
            <a:ext cx="1077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2019.5.9 - 11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4488" y="927607"/>
            <a:ext cx="696376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[1] e-mail communication with </a:t>
            </a:r>
            <a:r>
              <a:rPr lang="ko-KR" altLang="en-US" sz="1200" dirty="0" err="1"/>
              <a:t>원형섭강사</a:t>
            </a:r>
            <a:r>
              <a:rPr lang="ko-KR" altLang="en-US" sz="1200" dirty="0"/>
              <a:t> </a:t>
            </a:r>
            <a:r>
              <a:rPr lang="en-US" altLang="ko-KR" sz="1200" dirty="0"/>
              <a:t>in April 2019</a:t>
            </a:r>
          </a:p>
          <a:p>
            <a:r>
              <a:rPr lang="en-US" altLang="ko-KR" sz="1200" dirty="0"/>
              <a:t>[2] </a:t>
            </a:r>
            <a:r>
              <a:rPr lang="en-US" altLang="ko-KR" sz="1200" dirty="0">
                <a:hlinkClick r:id="rId3"/>
              </a:rPr>
              <a:t>https://github.com/stepanowon/react_deploy_sample/blob/master/hello-react-redux/package.json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415926" y="1689770"/>
            <a:ext cx="441018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create local server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express &lt;localServer&gt;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cd &lt;localServer&gt;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connect-history-</a:t>
            </a:r>
            <a:r>
              <a:rPr lang="en-US" altLang="ko-KR" sz="1400" dirty="0" err="1">
                <a:latin typeface="Consolas" panose="020B0609020204030204" pitchFamily="49" charset="0"/>
              </a:rPr>
              <a:t>api</a:t>
            </a:r>
            <a:r>
              <a:rPr lang="en-US" altLang="ko-KR" sz="1400" dirty="0">
                <a:latin typeface="Consolas" panose="020B0609020204030204" pitchFamily="49" charset="0"/>
              </a:rPr>
              <a:t>-fallback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nodemon app.js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Build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cd &lt;</a:t>
            </a:r>
            <a:r>
              <a:rPr lang="en-US" altLang="ko-KR" sz="1400" dirty="0" err="1">
                <a:latin typeface="Consolas" panose="020B0609020204030204" pitchFamily="49" charset="0"/>
              </a:rPr>
              <a:t>myProject</a:t>
            </a:r>
            <a:r>
              <a:rPr lang="en-US" altLang="ko-KR" sz="1400" dirty="0">
                <a:latin typeface="Consolas" panose="020B0609020204030204" pitchFamily="49" charset="0"/>
              </a:rPr>
              <a:t>&gt;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build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>
              <a:latin typeface="Consolas" panose="020B0609020204030204" pitchFamily="49" charset="0"/>
            </a:endParaRPr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Browse in chrome or ie9/10/11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localhost:80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or </a:t>
            </a:r>
            <a:r>
              <a:rPr lang="en-US" altLang="ko-KR" sz="1400" dirty="0" err="1">
                <a:latin typeface="Consolas" panose="020B0609020204030204" pitchFamily="49" charset="0"/>
              </a:rPr>
              <a:t>x.x.x.x</a:t>
            </a:r>
            <a:r>
              <a:rPr lang="en-US" altLang="ko-KR" sz="1400" dirty="0">
                <a:latin typeface="Consolas" panose="020B0609020204030204" pitchFamily="49" charset="0"/>
              </a:rPr>
              <a:t>/&lt;relative path&gt;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F1D262-13BA-4674-9C90-59593D90A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954" y="1844824"/>
            <a:ext cx="3276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41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Scripts in </a:t>
            </a:r>
            <a:r>
              <a:rPr lang="en-US" altLang="ko-KR" dirty="0" err="1"/>
              <a:t>package.json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388855" y="6581001"/>
            <a:ext cx="1077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2019.5.9 - 11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344488" y="927607"/>
            <a:ext cx="69637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[1] e-mail communication with </a:t>
            </a:r>
            <a:r>
              <a:rPr lang="ko-KR" altLang="en-US" sz="1200" dirty="0" err="1"/>
              <a:t>원형섭강사</a:t>
            </a:r>
            <a:r>
              <a:rPr lang="ko-KR" altLang="en-US" sz="1200" dirty="0"/>
              <a:t> </a:t>
            </a:r>
            <a:r>
              <a:rPr lang="en-US" altLang="ko-KR" sz="1200" dirty="0"/>
              <a:t>in April 2019</a:t>
            </a:r>
          </a:p>
          <a:p>
            <a:r>
              <a:rPr lang="en-US" altLang="ko-KR" sz="1200" dirty="0"/>
              <a:t>[2] </a:t>
            </a:r>
            <a:r>
              <a:rPr lang="en-US" altLang="ko-KR" sz="1200" dirty="0">
                <a:hlinkClick r:id="rId3"/>
              </a:rPr>
              <a:t>https://github.com/stepanowon/react_deploy_sample/blob/master/hello-react-redux/package.json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416496" y="1700808"/>
            <a:ext cx="714169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“scripts”: {</a:t>
            </a: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"start": "react-scripts start",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"build": "react-scripts build",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"test": "react-scripts test",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"eject": "react-scripts eject",</a:t>
            </a:r>
            <a:endParaRPr lang="ko-KR" altLang="ko-KR" sz="1400" dirty="0">
              <a:latin typeface="Consolas" panose="020B0609020204030204" pitchFamily="49" charset="0"/>
            </a:endParaRP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    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“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rm&amp;cp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": "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rimraf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../backend/gym &amp;&amp; move-cli build ../backend/gym",</a:t>
            </a:r>
            <a:endParaRPr lang="ko-KR" altLang="ko-KR" sz="1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fontAlgn="t"/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   "deploy": "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npm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run build &amp;&amp; 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npm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 run 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rm&amp;cp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  <a:ea typeface="맑은 고딕" panose="020B0503020000020004" pitchFamily="50" charset="-127"/>
              </a:rPr>
              <a:t>“</a:t>
            </a:r>
          </a:p>
          <a:p>
            <a:pPr fontAlgn="t"/>
            <a:r>
              <a:rPr lang="en-US" altLang="ko-KR" sz="1400" dirty="0">
                <a:latin typeface="Consolas" panose="020B0609020204030204" pitchFamily="49" charset="0"/>
                <a:ea typeface="맑은 고딕" panose="020B0503020000020004" pitchFamily="50" charset="-127"/>
              </a:rPr>
              <a:t>}</a:t>
            </a:r>
            <a:endParaRPr lang="ko-KR" altLang="ko-KR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60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 remove/disable webpack source-map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537035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2019.5.4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273050" y="927607"/>
            <a:ext cx="28147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3"/>
              </a:rPr>
              <a:t>https://www.npmjs.com/package/rimraf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340768"/>
            <a:ext cx="907300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install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 yarn add -D </a:t>
            </a:r>
            <a:r>
              <a:rPr lang="en-US" altLang="ko-KR" sz="1400" dirty="0" err="1">
                <a:latin typeface="Consolas" panose="020B0609020204030204" pitchFamily="49" charset="0"/>
              </a:rPr>
              <a:t>rimraf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Edit </a:t>
            </a:r>
            <a:r>
              <a:rPr lang="en-US" altLang="ko-KR" sz="1400" dirty="0" err="1"/>
              <a:t>package.json</a:t>
            </a: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"scripts": {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"start": "react-scripts start",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"build": "react-scripts build",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</a:t>
            </a:r>
            <a:r>
              <a:rPr lang="en-US" altLang="ko-KR" sz="1400" b="1" dirty="0">
                <a:latin typeface="Consolas" panose="020B0609020204030204" pitchFamily="49" charset="0"/>
              </a:rPr>
              <a:t>"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build:nomap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": "react-scripts build &amp;&amp; </a:t>
            </a:r>
            <a:r>
              <a:rPr lang="en-US" altLang="ko-KR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rimraf</a:t>
            </a:r>
            <a:r>
              <a:rPr lang="en-US" altLang="ko-KR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 build/**/*.map",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"test": "react-scripts test",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  "eject": "react-scripts eject"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},</a:t>
            </a:r>
          </a:p>
        </p:txBody>
      </p:sp>
    </p:spTree>
    <p:extLst>
      <p:ext uri="{BB962C8B-B14F-4D97-AF65-F5344CB8AC3E}">
        <p14:creationId xmlns:p14="http://schemas.microsoft.com/office/powerpoint/2010/main" val="11186016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Cross Origin Problem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87400" y="914400"/>
            <a:ext cx="485581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&lt;</a:t>
            </a:r>
            <a:r>
              <a:rPr lang="en-US" altLang="ko-KR" sz="1400" b="1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src</a:t>
            </a:r>
            <a:r>
              <a:rPr lang="en-US" altLang="ko-KR" sz="1400" b="1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/setupProxy.js&gt;</a:t>
            </a:r>
          </a:p>
          <a:p>
            <a:endParaRPr lang="en-US" altLang="ko-KR" sz="1400" dirty="0"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const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proxy = require('http-proxy-middleware');</a:t>
            </a:r>
          </a:p>
          <a:p>
            <a:endParaRPr lang="en-US" altLang="ko-KR" sz="1400" dirty="0"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module.exports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= function(app) {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app.use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(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proxy('/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api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', {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target: 'http://localhost:3001',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changeOrigin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 true,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pathRewrite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: {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    '^/</a:t>
            </a:r>
            <a:r>
              <a:rPr lang="en-US" altLang="ko-KR" sz="1400" dirty="0" err="1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api</a:t>
            </a:r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':''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  }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  })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    );</a:t>
            </a:r>
          </a:p>
          <a:p>
            <a:r>
              <a:rPr lang="en-US" altLang="ko-KR" sz="14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B82E29F-4FAF-46E4-A2BC-A907AD7F0822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891420-16A5-4123-A23D-040CF1C195DD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37565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ko-KR" dirty="0"/>
              <a:t>How to disable disable-react-</a:t>
            </a:r>
            <a:r>
              <a:rPr lang="en-US" altLang="ko-KR" dirty="0" err="1"/>
              <a:t>devtools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8982-D97C-4EB4-8693-C76D1C0EAA98}"/>
              </a:ext>
            </a:extLst>
          </p:cNvPr>
          <p:cNvSpPr txBox="1"/>
          <p:nvPr/>
        </p:nvSpPr>
        <p:spPr>
          <a:xfrm>
            <a:off x="4537035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2019.5.4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0BE131-20B0-4ECB-AE83-6F8388AAFF60}"/>
              </a:ext>
            </a:extLst>
          </p:cNvPr>
          <p:cNvSpPr/>
          <p:nvPr/>
        </p:nvSpPr>
        <p:spPr>
          <a:xfrm>
            <a:off x="273050" y="927607"/>
            <a:ext cx="39885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2"/>
              </a:rPr>
              <a:t>https://github.com/fvilers/disable-react-devtools#readme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AD248-2BA5-4181-BAFF-0ECE31C886D0}"/>
              </a:ext>
            </a:extLst>
          </p:cNvPr>
          <p:cNvSpPr txBox="1"/>
          <p:nvPr/>
        </p:nvSpPr>
        <p:spPr>
          <a:xfrm>
            <a:off x="344488" y="1340768"/>
            <a:ext cx="90730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install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yarn add @</a:t>
            </a:r>
            <a:r>
              <a:rPr lang="en-US" altLang="ko-KR" sz="1400" dirty="0" err="1">
                <a:latin typeface="Consolas" panose="020B0609020204030204" pitchFamily="49" charset="0"/>
              </a:rPr>
              <a:t>fvilers</a:t>
            </a:r>
            <a:r>
              <a:rPr lang="en-US" altLang="ko-KR" sz="1400" dirty="0">
                <a:latin typeface="Consolas" panose="020B0609020204030204" pitchFamily="49" charset="0"/>
              </a:rPr>
              <a:t>/disable-react-</a:t>
            </a:r>
            <a:r>
              <a:rPr lang="en-US" altLang="ko-KR" sz="1400" dirty="0" err="1">
                <a:latin typeface="Consolas" panose="020B0609020204030204" pitchFamily="49" charset="0"/>
              </a:rPr>
              <a:t>devtools</a:t>
            </a:r>
            <a:endParaRPr lang="en-US" altLang="ko-KR" sz="1400" dirty="0">
              <a:latin typeface="Consolas" panose="020B0609020204030204" pitchFamily="49" charset="0"/>
            </a:endParaRPr>
          </a:p>
          <a:p>
            <a:pPr marL="542925" lvl="1" indent="-180975">
              <a:buFont typeface="Consolas" panose="020B0609020204030204" pitchFamily="49" charset="0"/>
              <a:buChar char="»"/>
            </a:pPr>
            <a:endParaRPr lang="en-US" altLang="ko-KR" sz="1400" dirty="0"/>
          </a:p>
          <a:p>
            <a:pPr marL="180975" indent="-180975">
              <a:buFont typeface="+mj-lt"/>
              <a:buAutoNum type="arabicPeriod"/>
            </a:pPr>
            <a:r>
              <a:rPr lang="en-US" altLang="ko-KR" sz="1400" dirty="0"/>
              <a:t>How to use</a:t>
            </a:r>
          </a:p>
          <a:p>
            <a:pPr marL="180975" indent="-180975">
              <a:buFont typeface="+mj-lt"/>
              <a:buAutoNum type="arabicPeriod"/>
            </a:pPr>
            <a:endParaRPr lang="en-US" altLang="ko-KR" sz="1400" dirty="0"/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React from 'react';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</a:t>
            </a:r>
            <a:r>
              <a:rPr lang="en-US" altLang="ko-KR" sz="1400" dirty="0" err="1">
                <a:latin typeface="Consolas" panose="020B0609020204030204" pitchFamily="49" charset="0"/>
              </a:rPr>
              <a:t>ReactDOM</a:t>
            </a:r>
            <a:r>
              <a:rPr lang="en-US" altLang="ko-KR" sz="1400" dirty="0">
                <a:latin typeface="Consolas" panose="020B0609020204030204" pitchFamily="49" charset="0"/>
              </a:rPr>
              <a:t> from 'react-</a:t>
            </a:r>
            <a:r>
              <a:rPr lang="en-US" altLang="ko-KR" sz="1400" dirty="0" err="1">
                <a:latin typeface="Consolas" panose="020B0609020204030204" pitchFamily="49" charset="0"/>
              </a:rPr>
              <a:t>dom</a:t>
            </a:r>
            <a:r>
              <a:rPr lang="en-US" altLang="ko-KR" sz="1400" dirty="0">
                <a:latin typeface="Consolas" panose="020B0609020204030204" pitchFamily="49" charset="0"/>
              </a:rPr>
              <a:t>';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{ </a:t>
            </a:r>
            <a:r>
              <a:rPr lang="en-US" altLang="ko-KR" sz="1400" dirty="0" err="1">
                <a:latin typeface="Consolas" panose="020B0609020204030204" pitchFamily="49" charset="0"/>
              </a:rPr>
              <a:t>disableReactDevTools</a:t>
            </a:r>
            <a:r>
              <a:rPr lang="en-US" altLang="ko-KR" sz="1400" dirty="0">
                <a:latin typeface="Consolas" panose="020B0609020204030204" pitchFamily="49" charset="0"/>
              </a:rPr>
              <a:t> } from '@</a:t>
            </a:r>
            <a:r>
              <a:rPr lang="en-US" altLang="ko-KR" sz="1400" dirty="0" err="1">
                <a:latin typeface="Consolas" panose="020B0609020204030204" pitchFamily="49" charset="0"/>
              </a:rPr>
              <a:t>fvilers</a:t>
            </a:r>
            <a:r>
              <a:rPr lang="en-US" altLang="ko-KR" sz="1400" dirty="0">
                <a:latin typeface="Consolas" panose="020B0609020204030204" pitchFamily="49" charset="0"/>
              </a:rPr>
              <a:t>/disable-react-</a:t>
            </a:r>
            <a:r>
              <a:rPr lang="en-US" altLang="ko-KR" sz="1400" dirty="0" err="1">
                <a:latin typeface="Consolas" panose="020B0609020204030204" pitchFamily="49" charset="0"/>
              </a:rPr>
              <a:t>devtools</a:t>
            </a:r>
            <a:r>
              <a:rPr lang="en-US" altLang="ko-KR" sz="1400" dirty="0">
                <a:latin typeface="Consolas" panose="020B0609020204030204" pitchFamily="49" charset="0"/>
              </a:rPr>
              <a:t>';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import App from './App';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if (</a:t>
            </a:r>
            <a:r>
              <a:rPr lang="en-US" altLang="ko-KR" sz="1400" dirty="0" err="1">
                <a:latin typeface="Consolas" panose="020B0609020204030204" pitchFamily="49" charset="0"/>
              </a:rPr>
              <a:t>process.env.NODE_ENV</a:t>
            </a:r>
            <a:r>
              <a:rPr lang="en-US" altLang="ko-KR" sz="1400" dirty="0">
                <a:latin typeface="Consolas" panose="020B0609020204030204" pitchFamily="49" charset="0"/>
              </a:rPr>
              <a:t> === 'production') {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  </a:t>
            </a:r>
            <a:r>
              <a:rPr lang="en-US" altLang="ko-KR" sz="1400" dirty="0" err="1">
                <a:latin typeface="Consolas" panose="020B0609020204030204" pitchFamily="49" charset="0"/>
              </a:rPr>
              <a:t>disableReactDevTools</a:t>
            </a:r>
            <a:r>
              <a:rPr lang="en-US" altLang="ko-KR" sz="1400" dirty="0">
                <a:latin typeface="Consolas" panose="020B0609020204030204" pitchFamily="49" charset="0"/>
              </a:rPr>
              <a:t>();</a:t>
            </a:r>
          </a:p>
          <a:p>
            <a:pPr marL="361950" lvl="1"/>
            <a:r>
              <a:rPr lang="en-US" altLang="ko-KR" sz="1400" dirty="0">
                <a:latin typeface="Consolas" panose="020B0609020204030204" pitchFamily="49" charset="0"/>
              </a:rPr>
              <a:t>}</a:t>
            </a:r>
          </a:p>
          <a:p>
            <a:pPr marL="361950" lvl="1"/>
            <a:endParaRPr lang="en-US" altLang="ko-KR" sz="1400" dirty="0">
              <a:latin typeface="Consolas" panose="020B0609020204030204" pitchFamily="49" charset="0"/>
            </a:endParaRPr>
          </a:p>
          <a:p>
            <a:pPr marL="361950" lvl="1"/>
            <a:r>
              <a:rPr lang="en-US" altLang="ko-KR" sz="1400" dirty="0" err="1">
                <a:latin typeface="Consolas" panose="020B0609020204030204" pitchFamily="49" charset="0"/>
              </a:rPr>
              <a:t>ReactDOM.render</a:t>
            </a:r>
            <a:r>
              <a:rPr lang="en-US" altLang="ko-KR" sz="1400" dirty="0">
                <a:latin typeface="Consolas" panose="020B0609020204030204" pitchFamily="49" charset="0"/>
              </a:rPr>
              <a:t>(&lt;App /&gt;, </a:t>
            </a:r>
            <a:r>
              <a:rPr lang="en-US" altLang="ko-KR" sz="1400" dirty="0" err="1">
                <a:latin typeface="Consolas" panose="020B0609020204030204" pitchFamily="49" charset="0"/>
              </a:rPr>
              <a:t>document.getElementById</a:t>
            </a:r>
            <a:r>
              <a:rPr lang="en-US" altLang="ko-KR" sz="1400" dirty="0">
                <a:latin typeface="Consolas" panose="020B0609020204030204" pitchFamily="49" charset="0"/>
              </a:rPr>
              <a:t>('root'));</a:t>
            </a:r>
          </a:p>
        </p:txBody>
      </p:sp>
    </p:spTree>
    <p:extLst>
      <p:ext uri="{BB962C8B-B14F-4D97-AF65-F5344CB8AC3E}">
        <p14:creationId xmlns:p14="http://schemas.microsoft.com/office/powerpoint/2010/main" val="3838912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EF4103-BF90-430B-8DF0-4D8292CE73BA}"/>
              </a:ext>
            </a:extLst>
          </p:cNvPr>
          <p:cNvSpPr/>
          <p:nvPr/>
        </p:nvSpPr>
        <p:spPr>
          <a:xfrm>
            <a:off x="273050" y="729242"/>
            <a:ext cx="19656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https://webpack.js.org/</a:t>
            </a: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1A5A44-BD96-4A61-91A2-83A07B981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53" y="1151458"/>
            <a:ext cx="23145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981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</a:t>
            </a:r>
            <a:endParaRPr lang="ko-KR" altLang="en-US" baseline="30000" dirty="0"/>
          </a:p>
        </p:txBody>
      </p:sp>
      <p:sp>
        <p:nvSpPr>
          <p:cNvPr id="3" name="TextBox 2"/>
          <p:cNvSpPr txBox="1"/>
          <p:nvPr/>
        </p:nvSpPr>
        <p:spPr>
          <a:xfrm>
            <a:off x="344488" y="1037019"/>
            <a:ext cx="8981946" cy="4001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Babel</a:t>
            </a:r>
          </a:p>
          <a:p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Babel is a JavaScript compiler to convert ES2015+ to ES5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install --save-dev babel-cli  babel-core  babel-preset-env babel-preset-stage-2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/>
              <a:t>Document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hlinkClick r:id="rId2"/>
              </a:rPr>
              <a:t>http:/babeljs.io/repl</a:t>
            </a: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FF0000"/>
                </a:solidFill>
              </a:rPr>
              <a:t>create .</a:t>
            </a:r>
            <a:r>
              <a:rPr lang="en-US" altLang="ko-KR" sz="1400" dirty="0" err="1">
                <a:solidFill>
                  <a:srgbClr val="FF0000"/>
                </a:solidFill>
              </a:rPr>
              <a:t>babelrc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rgbClr val="FF0000"/>
                </a:solidFill>
              </a:rPr>
              <a:t>Source-maps ????</a:t>
            </a:r>
          </a:p>
          <a:p>
            <a:endParaRPr lang="en-US" altLang="ko-KR" sz="1400" dirty="0"/>
          </a:p>
          <a:p>
            <a:r>
              <a:rPr lang="en-US" altLang="ko-KR" b="1" dirty="0"/>
              <a:t>Webpack</a:t>
            </a:r>
          </a:p>
          <a:p>
            <a:endParaRPr lang="en-US" altLang="ko-KR" b="1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Install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install -g webpack webpack-cli</a:t>
            </a:r>
          </a:p>
          <a:p>
            <a:pPr marL="542925" lvl="1" indent="-180975">
              <a:buFont typeface="Consolas" panose="020B0609020204030204" pitchFamily="49" charset="0"/>
              <a:buChar char="»"/>
            </a:pPr>
            <a:r>
              <a:rPr lang="en-US" altLang="ko-KR" sz="1400" dirty="0">
                <a:latin typeface="Consolas" panose="020B0609020204030204" pitchFamily="49" charset="0"/>
              </a:rPr>
              <a:t>npm install –save-dev webpack-dev-serv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Document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en-US" altLang="ko-KR" sz="1400" dirty="0">
                <a:hlinkClick r:id="rId3"/>
              </a:rPr>
              <a:t>https://webpack.js.org/</a:t>
            </a: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69AC9-1E97-4DF8-8527-F6C04BFDEF0F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AAF7FB5-E1EE-447A-9C27-1111F170AA3C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582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Loader  </a:t>
            </a:r>
            <a:r>
              <a:rPr lang="en-US" altLang="ko-KR" baseline="30000" dirty="0"/>
              <a:t>1/2</a:t>
            </a:r>
            <a:endParaRPr lang="ko-KR" altLang="en-US" baseline="30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537032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2019.4.8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97CE40-7D02-4995-97D0-313FB9E59E4A}"/>
              </a:ext>
            </a:extLst>
          </p:cNvPr>
          <p:cNvSpPr/>
          <p:nvPr/>
        </p:nvSpPr>
        <p:spPr>
          <a:xfrm>
            <a:off x="327834" y="744959"/>
            <a:ext cx="55066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9388" indent="-179388">
              <a:buClr>
                <a:srgbClr val="0000FF"/>
              </a:buClr>
              <a:buFont typeface="Batang" panose="02030600000101010101" pitchFamily="18" charset="-127"/>
              <a:buChar char="★"/>
            </a:pPr>
            <a:r>
              <a:rPr lang="en-US" altLang="ko-KR" sz="1400" dirty="0">
                <a:hlinkClick r:id="rId2"/>
              </a:rPr>
              <a:t>https://webpack.js.org/loaders/</a:t>
            </a:r>
            <a:endParaRPr lang="en-US" altLang="ko-KR" sz="1400" dirty="0">
              <a:hlinkClick r:id="rId3"/>
            </a:endParaRPr>
          </a:p>
          <a:p>
            <a:pPr marL="179388" indent="-179388">
              <a:buClr>
                <a:srgbClr val="0000FF"/>
              </a:buClr>
              <a:buFont typeface="Batang" panose="02030600000101010101" pitchFamily="18" charset="-127"/>
              <a:buChar char="★"/>
            </a:pPr>
            <a:r>
              <a:rPr lang="en-US" altLang="ko-KR" sz="1400" dirty="0">
                <a:hlinkClick r:id="rId4"/>
              </a:rPr>
              <a:t>https://github.com/webpack-contrib/awesome-webpack#laoders</a:t>
            </a:r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CE6250-F720-4D53-95D1-64F6E23D5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96" y="1412776"/>
            <a:ext cx="2000250" cy="31432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AA59179-593C-4226-A46E-DCCC78CC1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144" y="738671"/>
            <a:ext cx="3050654" cy="151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476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Loader  </a:t>
            </a:r>
            <a:r>
              <a:rPr lang="en-US" altLang="ko-KR" baseline="30000" dirty="0"/>
              <a:t>2/2</a:t>
            </a:r>
            <a:endParaRPr lang="ko-KR" altLang="en-US" baseline="300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>
            <a:cxnSpLocks/>
          </p:cNvCxnSpPr>
          <p:nvPr/>
        </p:nvCxnSpPr>
        <p:spPr>
          <a:xfrm flipV="1">
            <a:off x="7185248" y="340364"/>
            <a:ext cx="1744846" cy="592100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97CE40-7D02-4995-97D0-313FB9E59E4A}"/>
              </a:ext>
            </a:extLst>
          </p:cNvPr>
          <p:cNvSpPr/>
          <p:nvPr/>
        </p:nvSpPr>
        <p:spPr>
          <a:xfrm>
            <a:off x="327834" y="744959"/>
            <a:ext cx="33185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https://webpack.js.org/concepts/loaders</a:t>
            </a:r>
            <a:endParaRPr lang="ko-KR" altLang="en-US" sz="1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EF21E2-30B7-4EEB-B1E9-E4F7DEB79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34" y="1175303"/>
            <a:ext cx="7296150" cy="8001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A735958-63BC-41B4-8ABB-362DE0C65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34" y="2062618"/>
            <a:ext cx="7324725" cy="2476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DD7490-AAA3-40A2-9A45-56B52C4AF655}"/>
              </a:ext>
            </a:extLst>
          </p:cNvPr>
          <p:cNvSpPr txBox="1"/>
          <p:nvPr/>
        </p:nvSpPr>
        <p:spPr>
          <a:xfrm>
            <a:off x="2576736" y="5200189"/>
            <a:ext cx="5153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/>
            <a:r>
              <a:rPr lang="ko-KR" altLang="en-US" sz="2000" b="1" dirty="0">
                <a:solidFill>
                  <a:srgbClr val="FF0000"/>
                </a:solidFill>
              </a:rPr>
              <a:t>예가 </a:t>
            </a:r>
            <a:r>
              <a:rPr lang="ko-KR" altLang="en-US" sz="2000" b="1" dirty="0" err="1">
                <a:solidFill>
                  <a:srgbClr val="FF0000"/>
                </a:solidFill>
              </a:rPr>
              <a:t>뭘까요</a:t>
            </a:r>
            <a:r>
              <a:rPr lang="ko-KR" altLang="en-US" sz="2000" b="1" dirty="0">
                <a:solidFill>
                  <a:srgbClr val="FF0000"/>
                </a:solidFill>
              </a:rPr>
              <a:t>  어떻게 사용하는 건가요 </a:t>
            </a:r>
            <a:r>
              <a:rPr lang="en-US" altLang="ko-KR" sz="2000" b="1" dirty="0">
                <a:solidFill>
                  <a:srgbClr val="FF0000"/>
                </a:solidFill>
              </a:rPr>
              <a:t>? ???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2590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Plugin</a:t>
            </a: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/>
          <p:nvPr/>
        </p:nvCxnSpPr>
        <p:spPr>
          <a:xfrm flipV="1">
            <a:off x="7630142" y="-556764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F6AAC7-6D97-419A-887E-B09F52C0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168127"/>
            <a:ext cx="7353300" cy="362902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F1E880E-0CEA-4257-AAE8-DCB8D8B00208}"/>
              </a:ext>
            </a:extLst>
          </p:cNvPr>
          <p:cNvSpPr/>
          <p:nvPr/>
        </p:nvSpPr>
        <p:spPr>
          <a:xfrm>
            <a:off x="273050" y="744959"/>
            <a:ext cx="33489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3"/>
              </a:rPr>
              <a:t>https://webpack.js.org/concepts/plugins/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63137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Webpack: webpack.config.js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15F26-3AE9-4509-B927-668234C2B0ED}"/>
              </a:ext>
            </a:extLst>
          </p:cNvPr>
          <p:cNvSpPr txBox="1"/>
          <p:nvPr/>
        </p:nvSpPr>
        <p:spPr>
          <a:xfrm>
            <a:off x="344488" y="1037019"/>
            <a:ext cx="217239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ko-KR" b="1" dirty="0">
                <a:solidFill>
                  <a:prstClr val="black"/>
                </a:solidFill>
              </a:rPr>
              <a:t>webpack loader</a:t>
            </a:r>
          </a:p>
          <a:p>
            <a:pPr lvl="0"/>
            <a:r>
              <a:rPr lang="en-US" altLang="ko-KR" b="1" dirty="0">
                <a:solidFill>
                  <a:prstClr val="black"/>
                </a:solidFill>
              </a:rPr>
              <a:t>webpack.config.js</a:t>
            </a:r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altLang="ko-KR" sz="1400" dirty="0">
                <a:solidFill>
                  <a:prstClr val="black"/>
                </a:solidFill>
              </a:rPr>
              <a:t>xxx</a:t>
            </a:r>
            <a:endParaRPr lang="en-US" altLang="ko-KR" sz="1400" dirty="0"/>
          </a:p>
          <a:p>
            <a:pPr marL="342900" lvl="0" indent="-342900">
              <a:buFont typeface="+mj-lt"/>
              <a:buAutoNum type="arabicPeriod"/>
            </a:pPr>
            <a:endParaRPr lang="en-US" altLang="ko-KR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2D9120-476B-4A13-AA50-CE978344686A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C5CCFF-1197-48C5-8830-76E09590E7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182892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Lifecycle Method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73050" y="771292"/>
            <a:ext cx="56653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2"/>
              </a:rPr>
              <a:t>http://projects.wojtekmaj.pl/react-lifecycle-methods-diagram/</a:t>
            </a:r>
            <a:r>
              <a:rPr lang="en-US" altLang="ko-KR" sz="1400" dirty="0"/>
              <a:t>   </a:t>
            </a:r>
            <a:r>
              <a:rPr lang="ko-KR" altLang="en-US" sz="1400" dirty="0">
                <a:ea typeface="바탕" panose="02030600000101010101" pitchFamily="18" charset="-127"/>
              </a:rPr>
              <a:t>★★★</a:t>
            </a:r>
            <a:endParaRPr lang="en-US" altLang="ko-KR" sz="1400" dirty="0">
              <a:hlinkClick r:id="rId3"/>
            </a:endParaRPr>
          </a:p>
          <a:p>
            <a:r>
              <a:rPr lang="en-US" altLang="ko-KR" sz="1400" dirty="0">
                <a:hlinkClick r:id="rId3"/>
              </a:rPr>
              <a:t>https://programmingwithmosh.com/javascript/react-lifecycle-methods/</a:t>
            </a:r>
            <a:endParaRPr lang="en-US" altLang="ko-KR" sz="1400" dirty="0">
              <a:ea typeface="Cambria Math" panose="02040503050406030204" pitchFamily="18" charset="0"/>
              <a:cs typeface="Consolas" panose="020B0609020204030204" pitchFamily="49" charset="0"/>
            </a:endParaRPr>
          </a:p>
        </p:txBody>
      </p:sp>
      <p:pic>
        <p:nvPicPr>
          <p:cNvPr id="1026" name="Picture 2" descr="https://i2.wp.com/programmingwithmosh.com/wp-content/uploads/2018/10/Screen-Shot-2018-10-31-at-1.44.28-PM.png?ssl=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1686987"/>
            <a:ext cx="7307262" cy="404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728864" y="3717032"/>
            <a:ext cx="52290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rgbClr val="0000FF"/>
                </a:solidFill>
              </a:rPr>
              <a:t>If return true</a:t>
            </a:r>
            <a:endParaRPr lang="ko-KR" altLang="en-US" sz="500" dirty="0">
              <a:solidFill>
                <a:srgbClr val="0000FF"/>
              </a:solidFill>
            </a:endParaRPr>
          </a:p>
        </p:txBody>
      </p:sp>
      <p:cxnSp>
        <p:nvCxnSpPr>
          <p:cNvPr id="6" name="직선 화살표 연결선 5"/>
          <p:cNvCxnSpPr/>
          <p:nvPr/>
        </p:nvCxnSpPr>
        <p:spPr>
          <a:xfrm flipH="1" flipV="1">
            <a:off x="5097016" y="4509120"/>
            <a:ext cx="360040" cy="13681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90356" y="5877272"/>
            <a:ext cx="13885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accent1"/>
                </a:solidFill>
              </a:rPr>
              <a:t>Update browser DOM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3240" y="5877272"/>
            <a:ext cx="242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componentDidCatch</a:t>
            </a:r>
            <a:r>
              <a:rPr lang="en-US" altLang="ko-KR" dirty="0">
                <a:solidFill>
                  <a:srgbClr val="FF0000"/>
                </a:solidFill>
              </a:rPr>
              <a:t>???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4953000" y="1163767"/>
            <a:ext cx="2160240" cy="25201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13240" y="1069286"/>
            <a:ext cx="15359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>
                <a:solidFill>
                  <a:schemeClr val="accent1"/>
                </a:solidFill>
              </a:rPr>
              <a:t>No need to use this if</a:t>
            </a:r>
            <a:br>
              <a:rPr lang="en-US" altLang="ko-KR" sz="1050" dirty="0">
                <a:solidFill>
                  <a:schemeClr val="accent1"/>
                </a:solidFill>
              </a:rPr>
            </a:br>
            <a:r>
              <a:rPr lang="en-US" altLang="ko-KR" sz="1050" dirty="0">
                <a:solidFill>
                  <a:schemeClr val="accent1"/>
                </a:solidFill>
              </a:rPr>
              <a:t>you use </a:t>
            </a:r>
            <a:r>
              <a:rPr lang="en-US" altLang="ko-KR" sz="1050" dirty="0" err="1">
                <a:solidFill>
                  <a:schemeClr val="accent1"/>
                </a:solidFill>
              </a:rPr>
              <a:t>PureComponent</a:t>
            </a:r>
            <a:endParaRPr lang="ko-KR" altLang="en-US" sz="1050" dirty="0">
              <a:solidFill>
                <a:schemeClr val="accent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8B517BC-5621-40A4-80EC-E79FAE0771E0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BA196A-6DB6-4039-B985-FD670DB1AE75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77853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HOC (High Order Component)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856656" y="2996952"/>
            <a:ext cx="2615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React render ???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React </a:t>
            </a:r>
            <a:r>
              <a:rPr lang="en-US" altLang="ko-KR" dirty="0" err="1">
                <a:solidFill>
                  <a:srgbClr val="FF0000"/>
                </a:solidFill>
              </a:rPr>
              <a:t>dnd</a:t>
            </a:r>
            <a:r>
              <a:rPr lang="en-US" altLang="ko-KR" dirty="0">
                <a:solidFill>
                  <a:srgbClr val="FF0000"/>
                </a:solidFill>
              </a:rPr>
              <a:t> &gt;&gt; </a:t>
            </a:r>
            <a:r>
              <a:rPr lang="ko-KR" altLang="en-US" dirty="0" err="1">
                <a:solidFill>
                  <a:srgbClr val="FF0000"/>
                </a:solidFill>
              </a:rPr>
              <a:t>에니메이션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FB4C75-1A46-48D9-8535-E038F507E3F1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4B3B684-687F-4A92-B0D3-A767265C7065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94690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Folder: index.js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87400" y="914400"/>
            <a:ext cx="5302157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import React from 'react';</a:t>
            </a:r>
          </a:p>
          <a:p>
            <a:r>
              <a:rPr lang="en-US" altLang="ko-KR" sz="1400" dirty="0"/>
              <a:t>import </a:t>
            </a:r>
            <a:r>
              <a:rPr lang="en-US" altLang="ko-KR" sz="1400" dirty="0" err="1"/>
              <a:t>ReactDOM</a:t>
            </a:r>
            <a:r>
              <a:rPr lang="en-US" altLang="ko-KR" sz="1400" dirty="0"/>
              <a:t> from 'react-</a:t>
            </a:r>
            <a:r>
              <a:rPr lang="en-US" altLang="ko-KR" sz="1400" dirty="0" err="1"/>
              <a:t>dom</a:t>
            </a:r>
            <a:r>
              <a:rPr lang="en-US" altLang="ko-KR" sz="1400" dirty="0"/>
              <a:t>';</a:t>
            </a:r>
          </a:p>
          <a:p>
            <a:r>
              <a:rPr lang="en-US" altLang="ko-KR" sz="1400" dirty="0"/>
              <a:t>import './index.css';</a:t>
            </a:r>
          </a:p>
          <a:p>
            <a:r>
              <a:rPr lang="en-US" altLang="ko-KR" sz="1400" b="1" dirty="0">
                <a:solidFill>
                  <a:srgbClr val="0000FF"/>
                </a:solidFill>
              </a:rPr>
              <a:t>import 'bootstrap/</a:t>
            </a:r>
            <a:r>
              <a:rPr lang="en-US" altLang="ko-KR" sz="1400" b="1" dirty="0" err="1">
                <a:solidFill>
                  <a:srgbClr val="0000FF"/>
                </a:solidFill>
              </a:rPr>
              <a:t>dist</a:t>
            </a:r>
            <a:r>
              <a:rPr lang="en-US" altLang="ko-KR" sz="1400" b="1" dirty="0">
                <a:solidFill>
                  <a:srgbClr val="0000FF"/>
                </a:solidFill>
              </a:rPr>
              <a:t>/</a:t>
            </a:r>
            <a:r>
              <a:rPr lang="en-US" altLang="ko-KR" sz="1400" b="1" dirty="0" err="1">
                <a:solidFill>
                  <a:srgbClr val="0000FF"/>
                </a:solidFill>
              </a:rPr>
              <a:t>css</a:t>
            </a:r>
            <a:r>
              <a:rPr lang="en-US" altLang="ko-KR" sz="1400" b="1" dirty="0">
                <a:solidFill>
                  <a:srgbClr val="0000FF"/>
                </a:solidFill>
              </a:rPr>
              <a:t>/bootstrap.css';</a:t>
            </a:r>
          </a:p>
          <a:p>
            <a:r>
              <a:rPr lang="en-US" altLang="ko-KR" sz="1400" dirty="0"/>
              <a:t>import App from './App';</a:t>
            </a:r>
          </a:p>
          <a:p>
            <a:r>
              <a:rPr lang="en-US" altLang="ko-KR" sz="1400" dirty="0"/>
              <a:t>import * as </a:t>
            </a:r>
            <a:r>
              <a:rPr lang="en-US" altLang="ko-KR" sz="1400" dirty="0" err="1"/>
              <a:t>serviceWorker</a:t>
            </a:r>
            <a:r>
              <a:rPr lang="en-US" altLang="ko-KR" sz="1400" dirty="0"/>
              <a:t> from './</a:t>
            </a:r>
            <a:r>
              <a:rPr lang="en-US" altLang="ko-KR" sz="1400" dirty="0" err="1"/>
              <a:t>serviceWorker</a:t>
            </a:r>
            <a:r>
              <a:rPr lang="en-US" altLang="ko-KR" sz="1400" dirty="0"/>
              <a:t>';</a:t>
            </a:r>
          </a:p>
          <a:p>
            <a:br>
              <a:rPr lang="en-US" altLang="ko-KR" sz="1400" dirty="0"/>
            </a:br>
            <a:r>
              <a:rPr lang="en-US" altLang="ko-KR" sz="1400" dirty="0" err="1"/>
              <a:t>ReactDOM.render</a:t>
            </a:r>
            <a:r>
              <a:rPr lang="en-US" altLang="ko-KR" sz="1400" dirty="0"/>
              <a:t>(&lt;App /&gt;, </a:t>
            </a:r>
            <a:r>
              <a:rPr lang="en-US" altLang="ko-KR" sz="1400" dirty="0" err="1"/>
              <a:t>document.getElementById</a:t>
            </a:r>
            <a:r>
              <a:rPr lang="en-US" altLang="ko-KR" sz="1400" dirty="0"/>
              <a:t>('root'));</a:t>
            </a:r>
          </a:p>
          <a:p>
            <a:br>
              <a:rPr lang="en-US" altLang="ko-KR" sz="1400" dirty="0"/>
            </a:br>
            <a:r>
              <a:rPr lang="en-US" altLang="ko-KR" sz="1400" dirty="0"/>
              <a:t>// If you want your app to work offline and load faster, you can change</a:t>
            </a:r>
          </a:p>
          <a:p>
            <a:r>
              <a:rPr lang="en-US" altLang="ko-KR" sz="1400" dirty="0"/>
              <a:t>// unregister() to register() below. Note this comes with some pitfalls.</a:t>
            </a:r>
          </a:p>
          <a:p>
            <a:r>
              <a:rPr lang="en-US" altLang="ko-KR" sz="1400" dirty="0"/>
              <a:t>// Learn more about service workers: https://bit.ly/CRA-PWA</a:t>
            </a:r>
          </a:p>
          <a:p>
            <a:r>
              <a:rPr lang="en-US" altLang="ko-KR" sz="1400" dirty="0" err="1"/>
              <a:t>serviceWorker.unregister</a:t>
            </a:r>
            <a:r>
              <a:rPr lang="en-US" altLang="ko-KR" sz="1400" dirty="0"/>
              <a:t>();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EBF0F61-EC06-411F-9869-B5243558AF6D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9DBD11-A1DB-4D3C-9689-3D39AF21BE17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925154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Flux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73050" y="738773"/>
            <a:ext cx="40652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2"/>
              </a:rPr>
              <a:t>https://facebook.github.io/flux/docs/overview.html</a:t>
            </a:r>
            <a:endParaRPr lang="ko-KR" altLang="en-US" sz="1400" dirty="0"/>
          </a:p>
        </p:txBody>
      </p:sp>
      <p:pic>
        <p:nvPicPr>
          <p:cNvPr id="2050" name="Picture 2" descr="varying transports between each step of the Flux data f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84" y="1268760"/>
            <a:ext cx="6144170" cy="33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AB0977B-6EAE-4CF9-B457-F5843380B777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EB31CE-EDE8-437E-A8D8-F0625F0E1D38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773727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16496" y="908050"/>
            <a:ext cx="5114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Redux = Flux + hot reloading + time travel debugging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6496" y="1412776"/>
            <a:ext cx="650434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Flux issues</a:t>
            </a:r>
            <a:r>
              <a:rPr lang="en-US" altLang="ko-KR" dirty="0"/>
              <a:t>:</a:t>
            </a:r>
          </a:p>
          <a:p>
            <a:pPr marL="539750" lvl="1" indent="-176213">
              <a:buFont typeface="Arial" panose="020B0604020202020204" pitchFamily="34" charset="0"/>
              <a:buChar char="-"/>
            </a:pPr>
            <a:r>
              <a:rPr lang="en-US" altLang="ko-KR" dirty="0"/>
              <a:t>Integration of state and state-logic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side effect: if logic changed, state becomes initialized.</a:t>
            </a:r>
          </a:p>
          <a:p>
            <a:pPr marL="539750" lvl="1" indent="-176213">
              <a:buFont typeface="Arial" panose="020B0604020202020204" pitchFamily="34" charset="0"/>
              <a:buChar char="-"/>
            </a:pPr>
            <a:r>
              <a:rPr lang="en-US" altLang="ko-KR" dirty="0"/>
              <a:t>Not able to debug time travel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Redux features</a:t>
            </a:r>
            <a:r>
              <a:rPr lang="en-US" altLang="ko-KR" dirty="0"/>
              <a:t>: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Single store  </a:t>
            </a:r>
            <a:r>
              <a:rPr lang="en-US" altLang="ko-KR" baseline="30000" dirty="0"/>
              <a:t>[1]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Separation of state and state-logic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Time travel debugging  </a:t>
            </a:r>
            <a:r>
              <a:rPr lang="en-US" altLang="ko-KR" baseline="30000" dirty="0"/>
              <a:t>[2]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/>
              <a:t>Three Principles</a:t>
            </a:r>
            <a:r>
              <a:rPr lang="en-US" altLang="ko-KR" dirty="0"/>
              <a:t> </a:t>
            </a:r>
            <a:r>
              <a:rPr lang="en-US" altLang="ko-KR" baseline="30000" dirty="0"/>
              <a:t>[3]</a:t>
            </a:r>
            <a:r>
              <a:rPr lang="en-US" altLang="ko-KR" dirty="0"/>
              <a:t>: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Single source of truth (SSOT) </a:t>
            </a:r>
            <a:r>
              <a:rPr lang="en-US" altLang="ko-KR" baseline="30000" dirty="0"/>
              <a:t>[4]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State is read-only</a:t>
            </a:r>
          </a:p>
          <a:p>
            <a:pPr marL="623888" lvl="1" indent="-260350">
              <a:buFont typeface="+mj-lt"/>
              <a:buAutoNum type="arabicParenR"/>
            </a:pPr>
            <a:r>
              <a:rPr lang="en-US" altLang="ko-KR" dirty="0"/>
              <a:t>Changes are made with pure function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88504" y="5589240"/>
            <a:ext cx="695094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/>
              <a:t>[1] Redux single store: </a:t>
            </a:r>
            <a:r>
              <a:rPr lang="en-US" altLang="ko-KR" sz="1400" dirty="0">
                <a:hlinkClick r:id="rId2"/>
              </a:rPr>
              <a:t>https://redux.js.org/api/store</a:t>
            </a:r>
            <a:endParaRPr lang="en-US" altLang="ko-KR" sz="1400" dirty="0"/>
          </a:p>
          <a:p>
            <a:r>
              <a:rPr lang="en-US" altLang="ko-KR" sz="1400" dirty="0"/>
              <a:t>[2] Time travel debugging: </a:t>
            </a:r>
            <a:r>
              <a:rPr lang="en-US" altLang="ko-KR" sz="1400" dirty="0">
                <a:hlinkClick r:id="rId3"/>
              </a:rPr>
              <a:t>https://en.wikipedia.org/wiki/Time_travel_debugging</a:t>
            </a:r>
            <a:endParaRPr lang="en-US" altLang="ko-KR" sz="1400" dirty="0"/>
          </a:p>
          <a:p>
            <a:r>
              <a:rPr lang="en-US" altLang="ko-KR" sz="1400" dirty="0"/>
              <a:t>[3] Three Principles: </a:t>
            </a:r>
            <a:r>
              <a:rPr lang="en-US" altLang="ko-KR" sz="1400" dirty="0">
                <a:hlinkClick r:id="rId4"/>
              </a:rPr>
              <a:t>https://redux.js.org/introduction/three-principles</a:t>
            </a:r>
            <a:endParaRPr lang="en-US" altLang="ko-KR" sz="1400" dirty="0"/>
          </a:p>
          <a:p>
            <a:r>
              <a:rPr lang="en-US" altLang="ko-KR" sz="1400" dirty="0"/>
              <a:t>[4] Single source of truth (SSOT): </a:t>
            </a:r>
            <a:r>
              <a:rPr lang="en-US" altLang="ko-KR" sz="1400" dirty="0">
                <a:hlinkClick r:id="rId5"/>
              </a:rPr>
              <a:t>https://en.wikipedia.org/wiki/Single_source_of_truth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61ADE-75F5-4E39-BAB1-12FDD6997A21}"/>
              </a:ext>
            </a:extLst>
          </p:cNvPr>
          <p:cNvSpPr txBox="1"/>
          <p:nvPr/>
        </p:nvSpPr>
        <p:spPr>
          <a:xfrm>
            <a:off x="4258913" y="6581001"/>
            <a:ext cx="1337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4.9</a:t>
            </a:r>
            <a:endParaRPr lang="ko-KR" altLang="en-US" sz="1200" dirty="0"/>
          </a:p>
        </p:txBody>
      </p:sp>
      <p:pic>
        <p:nvPicPr>
          <p:cNvPr id="9" name="Picture 4" descr="https://cdn-images-1.medium.com/max/800/1*8wK8JxEtunDuoQDpHETGzA.png">
            <a:extLst>
              <a:ext uri="{FF2B5EF4-FFF2-40B4-BE49-F238E27FC236}">
                <a16:creationId xmlns:a16="http://schemas.microsoft.com/office/drawing/2014/main" id="{78C9F494-54AA-449D-846A-A4566EF43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41" y="2636912"/>
            <a:ext cx="3892322" cy="216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308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87CC9E5-EC69-4ED4-9214-F934D31FEC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"/>
          <a:stretch/>
        </p:blipFill>
        <p:spPr>
          <a:xfrm>
            <a:off x="344488" y="1268760"/>
            <a:ext cx="5112568" cy="224787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Redux: State Charts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92300" y="843681"/>
            <a:ext cx="51125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3"/>
              </a:rPr>
              <a:t>https://www.slideshare.net/gilfink/redux-data-flow-with-angular-77198205</a:t>
            </a:r>
            <a:endParaRPr lang="ko-KR" altLang="en-US" sz="1400" dirty="0"/>
          </a:p>
        </p:txBody>
      </p:sp>
      <p:pic>
        <p:nvPicPr>
          <p:cNvPr id="4098" name="Picture 2" descr="react redux connectì ëí ì´ë¯¸ì§ ê²ìê²°ê³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7" y="3936078"/>
            <a:ext cx="4528978" cy="2585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D91C76-C3DE-4E61-87AE-82FE1DDCEED9}"/>
              </a:ext>
            </a:extLst>
          </p:cNvPr>
          <p:cNvSpPr txBox="1"/>
          <p:nvPr/>
        </p:nvSpPr>
        <p:spPr>
          <a:xfrm>
            <a:off x="4425624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2019.4.8 - 9</a:t>
            </a:r>
            <a:endParaRPr lang="ko-KR" altLang="en-US" sz="1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872E88-8656-4955-B5E8-D724D9016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152" y="1550768"/>
            <a:ext cx="2448272" cy="130814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8693F2A-5F44-4DF4-AB38-B41682E3BF10}"/>
              </a:ext>
            </a:extLst>
          </p:cNvPr>
          <p:cNvSpPr/>
          <p:nvPr/>
        </p:nvSpPr>
        <p:spPr>
          <a:xfrm>
            <a:off x="5821393" y="751756"/>
            <a:ext cx="395889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6"/>
              </a:rPr>
              <a:t>https://medium.freecodecamp.org/how-to-model-the-behavior-of-redux-apps-using-statecharts-5e342aad8f66</a:t>
            </a:r>
            <a:endParaRPr lang="ko-KR" altLang="en-US" sz="14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9E1AF88-D9F9-484B-A20E-4948E54F49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6235" y="3570402"/>
            <a:ext cx="5134298" cy="288293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5B8547-67C5-4890-A9F3-CA45A15E3870}"/>
              </a:ext>
            </a:extLst>
          </p:cNvPr>
          <p:cNvSpPr/>
          <p:nvPr/>
        </p:nvSpPr>
        <p:spPr>
          <a:xfrm>
            <a:off x="4958768" y="3265239"/>
            <a:ext cx="3954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8"/>
              </a:rPr>
              <a:t>https://www.sitepoint.com/getting-started-redux/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76112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AB3F467C-4CB9-4D73-A89F-94B32A4E3C7E}"/>
              </a:ext>
            </a:extLst>
          </p:cNvPr>
          <p:cNvGrpSpPr/>
          <p:nvPr/>
        </p:nvGrpSpPr>
        <p:grpSpPr>
          <a:xfrm>
            <a:off x="778163" y="1672663"/>
            <a:ext cx="2735992" cy="1304322"/>
            <a:chOff x="848544" y="1588312"/>
            <a:chExt cx="2735992" cy="1304322"/>
          </a:xfrm>
        </p:grpSpPr>
        <p:sp>
          <p:nvSpPr>
            <p:cNvPr id="4" name="사각형: 잘린 한쪽 모서리 3">
              <a:extLst>
                <a:ext uri="{FF2B5EF4-FFF2-40B4-BE49-F238E27FC236}">
                  <a16:creationId xmlns:a16="http://schemas.microsoft.com/office/drawing/2014/main" id="{045FC1CB-B66D-4000-B19B-E6A30AC6DB6D}"/>
                </a:ext>
              </a:extLst>
            </p:cNvPr>
            <p:cNvSpPr/>
            <p:nvPr/>
          </p:nvSpPr>
          <p:spPr>
            <a:xfrm>
              <a:off x="848544" y="1588312"/>
              <a:ext cx="2735992" cy="1304322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AppContainter.js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AB98843-3104-4B36-9986-D3103801392D}"/>
                </a:ext>
              </a:extLst>
            </p:cNvPr>
            <p:cNvSpPr/>
            <p:nvPr/>
          </p:nvSpPr>
          <p:spPr>
            <a:xfrm>
              <a:off x="992560" y="2070725"/>
              <a:ext cx="20420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mapStateToProps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EF7B9AA-7B19-4B61-88BC-384078E6221C}"/>
                </a:ext>
              </a:extLst>
            </p:cNvPr>
            <p:cNvSpPr/>
            <p:nvPr/>
          </p:nvSpPr>
          <p:spPr>
            <a:xfrm>
              <a:off x="992560" y="2403238"/>
              <a:ext cx="23878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mapDispatchToProps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- Redux </a:t>
            </a:r>
            <a:r>
              <a:rPr lang="en-US" altLang="ko-KR" baseline="30000" dirty="0"/>
              <a:t>w/o React-Router</a:t>
            </a:r>
            <a:endParaRPr lang="ko-KR" altLang="en-US" baseline="30000" dirty="0"/>
          </a:p>
        </p:txBody>
      </p:sp>
      <p:sp>
        <p:nvSpPr>
          <p:cNvPr id="3" name="직사각형 2"/>
          <p:cNvSpPr/>
          <p:nvPr/>
        </p:nvSpPr>
        <p:spPr>
          <a:xfrm>
            <a:off x="1602004" y="4025722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App.js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/>
          <p:cNvCxnSpPr>
            <a:cxnSpLocks/>
            <a:stCxn id="4" idx="3"/>
            <a:endCxn id="10" idx="2"/>
          </p:cNvCxnSpPr>
          <p:nvPr/>
        </p:nvCxnSpPr>
        <p:spPr>
          <a:xfrm flipV="1">
            <a:off x="2146159" y="1353111"/>
            <a:ext cx="5680" cy="31955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611779" y="993111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Index.js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/>
          <p:cNvCxnSpPr>
            <a:cxnSpLocks/>
            <a:stCxn id="3" idx="0"/>
            <a:endCxn id="4" idx="1"/>
          </p:cNvCxnSpPr>
          <p:nvPr/>
        </p:nvCxnSpPr>
        <p:spPr>
          <a:xfrm flipV="1">
            <a:off x="2142064" y="2976985"/>
            <a:ext cx="4095" cy="104873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그룹 142"/>
          <p:cNvGrpSpPr/>
          <p:nvPr/>
        </p:nvGrpSpPr>
        <p:grpSpPr>
          <a:xfrm>
            <a:off x="1035715" y="4833161"/>
            <a:ext cx="2226466" cy="682716"/>
            <a:chOff x="2170733" y="3034316"/>
            <a:chExt cx="2226466" cy="682716"/>
          </a:xfrm>
        </p:grpSpPr>
        <p:sp>
          <p:nvSpPr>
            <p:cNvPr id="142" name="직사각형 141"/>
            <p:cNvSpPr/>
            <p:nvPr/>
          </p:nvSpPr>
          <p:spPr>
            <a:xfrm>
              <a:off x="2173335" y="3357032"/>
              <a:ext cx="2223864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Component View.js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2170733" y="3034316"/>
              <a:ext cx="2223864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Component View.js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9" name="꺾인 연결선 18"/>
          <p:cNvCxnSpPr>
            <a:cxnSpLocks/>
            <a:stCxn id="20" idx="0"/>
            <a:endCxn id="125" idx="4"/>
          </p:cNvCxnSpPr>
          <p:nvPr/>
        </p:nvCxnSpPr>
        <p:spPr>
          <a:xfrm rot="5400000" flipH="1" flipV="1">
            <a:off x="6298029" y="3392346"/>
            <a:ext cx="1426462" cy="1236424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5385048" y="4723789"/>
            <a:ext cx="201600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Root Reducer.js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꺾인 연결선 22"/>
          <p:cNvCxnSpPr>
            <a:cxnSpLocks/>
            <a:stCxn id="20" idx="1"/>
            <a:endCxn id="107" idx="2"/>
          </p:cNvCxnSpPr>
          <p:nvPr/>
        </p:nvCxnSpPr>
        <p:spPr>
          <a:xfrm rot="10800000" flipH="1" flipV="1">
            <a:off x="5385048" y="4903788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그룹 140"/>
          <p:cNvGrpSpPr/>
          <p:nvPr/>
        </p:nvGrpSpPr>
        <p:grpSpPr>
          <a:xfrm>
            <a:off x="3958823" y="3238688"/>
            <a:ext cx="1829420" cy="682676"/>
            <a:chOff x="4158506" y="1484784"/>
            <a:chExt cx="1829420" cy="682676"/>
          </a:xfrm>
        </p:grpSpPr>
        <p:sp>
          <p:nvSpPr>
            <p:cNvPr id="35" name="직사각형 34"/>
            <p:cNvSpPr/>
            <p:nvPr/>
          </p:nvSpPr>
          <p:spPr>
            <a:xfrm>
              <a:off x="4158506" y="1484784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158506" y="1807460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꺾인 연결선 43"/>
          <p:cNvCxnSpPr>
            <a:cxnSpLocks/>
            <a:stCxn id="43" idx="1"/>
            <a:endCxn id="46" idx="3"/>
          </p:cNvCxnSpPr>
          <p:nvPr/>
        </p:nvCxnSpPr>
        <p:spPr>
          <a:xfrm rot="10800000">
            <a:off x="3310035" y="2667590"/>
            <a:ext cx="648788" cy="1073775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cxnSpLocks/>
            <a:stCxn id="125" idx="5"/>
            <a:endCxn id="20" idx="0"/>
          </p:cNvCxnSpPr>
          <p:nvPr/>
        </p:nvCxnSpPr>
        <p:spPr>
          <a:xfrm rot="5400000">
            <a:off x="6398737" y="3158538"/>
            <a:ext cx="1559562" cy="157094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14809" y="1941079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(currentState)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58" name="꺾인 연결선 57"/>
          <p:cNvCxnSpPr>
            <a:cxnSpLocks/>
            <a:stCxn id="43" idx="3"/>
            <a:endCxn id="125" idx="3"/>
          </p:cNvCxnSpPr>
          <p:nvPr/>
        </p:nvCxnSpPr>
        <p:spPr>
          <a:xfrm flipV="1">
            <a:off x="5788243" y="3164227"/>
            <a:ext cx="1506713" cy="577137"/>
          </a:xfrm>
          <a:prstGeom prst="bentConnector2">
            <a:avLst/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63851" y="3458216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props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79915" y="4087101"/>
            <a:ext cx="1885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(previouState, 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72" name="꺾인 연결선 71"/>
          <p:cNvCxnSpPr>
            <a:cxnSpLocks/>
            <a:stCxn id="20" idx="3"/>
            <a:endCxn id="76" idx="2"/>
          </p:cNvCxnSpPr>
          <p:nvPr/>
        </p:nvCxnSpPr>
        <p:spPr>
          <a:xfrm flipV="1">
            <a:off x="7401048" y="3002366"/>
            <a:ext cx="1251717" cy="1901423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107" idx="3"/>
            <a:endCxn id="20" idx="2"/>
          </p:cNvCxnSpPr>
          <p:nvPr/>
        </p:nvCxnSpPr>
        <p:spPr>
          <a:xfrm rot="16200000" flipV="1">
            <a:off x="6212887" y="5263951"/>
            <a:ext cx="361435" cy="1112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617296" y="4947795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(newState, initialState)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264258" y="5025519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interaction</a:t>
            </a:r>
          </a:p>
          <a:p>
            <a:r>
              <a:rPr lang="en-US" altLang="ko-KR" sz="1400" i="1" dirty="0">
                <a:solidFill>
                  <a:srgbClr val="C00000"/>
                </a:solidFill>
              </a:rPr>
              <a:t>(click, etc.)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120" name="꺾인 연결선 119"/>
          <p:cNvCxnSpPr>
            <a:cxnSpLocks/>
            <a:stCxn id="125" idx="0"/>
            <a:endCxn id="10" idx="3"/>
          </p:cNvCxnSpPr>
          <p:nvPr/>
        </p:nvCxnSpPr>
        <p:spPr>
          <a:xfrm rot="16200000" flipV="1">
            <a:off x="4553010" y="-688000"/>
            <a:ext cx="1215352" cy="4937573"/>
          </a:xfrm>
          <a:prstGeom prst="bentConnector2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E489699-11A7-4F49-84CF-6901D39C2104}"/>
              </a:ext>
            </a:extLst>
          </p:cNvPr>
          <p:cNvGrpSpPr/>
          <p:nvPr/>
        </p:nvGrpSpPr>
        <p:grpSpPr>
          <a:xfrm>
            <a:off x="7156395" y="2388463"/>
            <a:ext cx="2232248" cy="908864"/>
            <a:chOff x="7113240" y="2160096"/>
            <a:chExt cx="2232248" cy="908864"/>
          </a:xfrm>
        </p:grpSpPr>
        <p:sp>
          <p:nvSpPr>
            <p:cNvPr id="76" name="직사각형 75"/>
            <p:cNvSpPr/>
            <p:nvPr/>
          </p:nvSpPr>
          <p:spPr>
            <a:xfrm>
              <a:off x="7873731" y="2413999"/>
              <a:ext cx="1471757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  middleware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/>
            <p:cNvSpPr/>
            <p:nvPr/>
          </p:nvSpPr>
          <p:spPr>
            <a:xfrm>
              <a:off x="7113240" y="2160096"/>
              <a:ext cx="946154" cy="9088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Store.js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F9082A5-4305-4186-9D35-23689F36A122}"/>
              </a:ext>
            </a:extLst>
          </p:cNvPr>
          <p:cNvSpPr txBox="1"/>
          <p:nvPr/>
        </p:nvSpPr>
        <p:spPr>
          <a:xfrm>
            <a:off x="4109034" y="6581001"/>
            <a:ext cx="1636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– 5, 4.8, 4.9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C405105-9694-410A-AAFC-1845A8BFB723}"/>
              </a:ext>
            </a:extLst>
          </p:cNvPr>
          <p:cNvCxnSpPr>
            <a:cxnSpLocks/>
            <a:stCxn id="17" idx="0"/>
            <a:endCxn id="3" idx="2"/>
          </p:cNvCxnSpPr>
          <p:nvPr/>
        </p:nvCxnSpPr>
        <p:spPr>
          <a:xfrm flipH="1" flipV="1">
            <a:off x="2142064" y="4385722"/>
            <a:ext cx="5583" cy="447439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43">
            <a:extLst>
              <a:ext uri="{FF2B5EF4-FFF2-40B4-BE49-F238E27FC236}">
                <a16:creationId xmlns:a16="http://schemas.microsoft.com/office/drawing/2014/main" id="{E4CA31E6-D737-4E4D-9DB2-A059242E00F8}"/>
              </a:ext>
            </a:extLst>
          </p:cNvPr>
          <p:cNvCxnSpPr>
            <a:cxnSpLocks/>
            <a:stCxn id="45" idx="1"/>
            <a:endCxn id="3" idx="1"/>
          </p:cNvCxnSpPr>
          <p:nvPr/>
        </p:nvCxnSpPr>
        <p:spPr>
          <a:xfrm rot="10800000" flipH="1" flipV="1">
            <a:off x="922178" y="2335076"/>
            <a:ext cx="679825" cy="1870646"/>
          </a:xfrm>
          <a:prstGeom prst="bentConnector3">
            <a:avLst>
              <a:gd name="adj1" fmla="val -3362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43">
            <a:extLst>
              <a:ext uri="{FF2B5EF4-FFF2-40B4-BE49-F238E27FC236}">
                <a16:creationId xmlns:a16="http://schemas.microsoft.com/office/drawing/2014/main" id="{536C77FC-7E66-49DD-9711-B301559D42DC}"/>
              </a:ext>
            </a:extLst>
          </p:cNvPr>
          <p:cNvCxnSpPr>
            <a:cxnSpLocks/>
            <a:stCxn id="46" idx="1"/>
            <a:endCxn id="3" idx="1"/>
          </p:cNvCxnSpPr>
          <p:nvPr/>
        </p:nvCxnSpPr>
        <p:spPr>
          <a:xfrm rot="10800000" flipH="1" flipV="1">
            <a:off x="922178" y="2667588"/>
            <a:ext cx="679825" cy="1538133"/>
          </a:xfrm>
          <a:prstGeom prst="bentConnector3">
            <a:avLst>
              <a:gd name="adj1" fmla="val -3362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43">
            <a:extLst>
              <a:ext uri="{FF2B5EF4-FFF2-40B4-BE49-F238E27FC236}">
                <a16:creationId xmlns:a16="http://schemas.microsoft.com/office/drawing/2014/main" id="{4B545502-C302-422B-83B0-7B982B72B5F3}"/>
              </a:ext>
            </a:extLst>
          </p:cNvPr>
          <p:cNvCxnSpPr>
            <a:cxnSpLocks/>
            <a:stCxn id="3" idx="1"/>
            <a:endCxn id="17" idx="1"/>
          </p:cNvCxnSpPr>
          <p:nvPr/>
        </p:nvCxnSpPr>
        <p:spPr>
          <a:xfrm rot="10800000" flipV="1">
            <a:off x="1035716" y="4205721"/>
            <a:ext cx="566289" cy="807439"/>
          </a:xfrm>
          <a:prstGeom prst="bentConnector3">
            <a:avLst>
              <a:gd name="adj1" fmla="val 140368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6701950-2C12-47D6-BA34-535462A32730}"/>
              </a:ext>
            </a:extLst>
          </p:cNvPr>
          <p:cNvSpPr txBox="1"/>
          <p:nvPr/>
        </p:nvSpPr>
        <p:spPr>
          <a:xfrm>
            <a:off x="819691" y="4357702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props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2054054-0FD7-4A5F-A4FD-636E7595C93A}"/>
              </a:ext>
            </a:extLst>
          </p:cNvPr>
          <p:cNvGrpSpPr/>
          <p:nvPr/>
        </p:nvGrpSpPr>
        <p:grpSpPr>
          <a:xfrm>
            <a:off x="403309" y="6113616"/>
            <a:ext cx="2173427" cy="411728"/>
            <a:chOff x="403309" y="6113616"/>
            <a:chExt cx="2173427" cy="411728"/>
          </a:xfrm>
        </p:grpSpPr>
        <p:sp>
          <p:nvSpPr>
            <p:cNvPr id="50" name="사각형: 잘린 한쪽 모서리 49">
              <a:extLst>
                <a:ext uri="{FF2B5EF4-FFF2-40B4-BE49-F238E27FC236}">
                  <a16:creationId xmlns:a16="http://schemas.microsoft.com/office/drawing/2014/main" id="{989F2FA5-DEB9-4A2F-815F-C9D45BA486A3}"/>
                </a:ext>
              </a:extLst>
            </p:cNvPr>
            <p:cNvSpPr/>
            <p:nvPr/>
          </p:nvSpPr>
          <p:spPr>
            <a:xfrm>
              <a:off x="403309" y="6165343"/>
              <a:ext cx="733267" cy="360001"/>
            </a:xfrm>
            <a:prstGeom prst="snip1Rect">
              <a:avLst>
                <a:gd name="adj" fmla="val 39245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state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7867C16-51AB-4170-A5B1-4040D2A0E513}"/>
                </a:ext>
              </a:extLst>
            </p:cNvPr>
            <p:cNvGrpSpPr/>
            <p:nvPr/>
          </p:nvGrpSpPr>
          <p:grpSpPr>
            <a:xfrm>
              <a:off x="1218744" y="6114782"/>
              <a:ext cx="637912" cy="338554"/>
              <a:chOff x="1218744" y="6114782"/>
              <a:chExt cx="637912" cy="338554"/>
            </a:xfrm>
          </p:grpSpPr>
          <p:cxnSp>
            <p:nvCxnSpPr>
              <p:cNvPr id="79" name="직선 화살표 연결선 78">
                <a:extLst>
                  <a:ext uri="{FF2B5EF4-FFF2-40B4-BE49-F238E27FC236}">
                    <a16:creationId xmlns:a16="http://schemas.microsoft.com/office/drawing/2014/main" id="{418D89AA-EFA2-4AEB-98E4-8653102CED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943" y="6437304"/>
                <a:ext cx="565713" cy="0"/>
              </a:xfrm>
              <a:prstGeom prst="straightConnector1">
                <a:avLst/>
              </a:prstGeom>
              <a:ln w="28575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D9CC1C3-3924-4A77-98F5-36DE696011FC}"/>
                  </a:ext>
                </a:extLst>
              </p:cNvPr>
              <p:cNvSpPr txBox="1"/>
              <p:nvPr/>
            </p:nvSpPr>
            <p:spPr>
              <a:xfrm>
                <a:off x="1218744" y="6114782"/>
                <a:ext cx="6286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code</a:t>
                </a:r>
                <a:endParaRPr lang="ko-KR" altLang="en-US" sz="1600" dirty="0"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2969C10-09FC-41B0-B27B-5D070AD50888}"/>
                </a:ext>
              </a:extLst>
            </p:cNvPr>
            <p:cNvGrpSpPr/>
            <p:nvPr/>
          </p:nvGrpSpPr>
          <p:grpSpPr>
            <a:xfrm>
              <a:off x="1879109" y="6113616"/>
              <a:ext cx="697627" cy="338554"/>
              <a:chOff x="1879109" y="6113616"/>
              <a:chExt cx="697627" cy="338554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E44897B9-B679-4400-BB12-5C7E16C851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2678" y="6436138"/>
                <a:ext cx="565713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03D03E0-CFB8-43CF-9D48-43F2B000E77C}"/>
                  </a:ext>
                </a:extLst>
              </p:cNvPr>
              <p:cNvSpPr txBox="1"/>
              <p:nvPr/>
            </p:nvSpPr>
            <p:spPr>
              <a:xfrm>
                <a:off x="1879109" y="6113616"/>
                <a:ext cx="6976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props</a:t>
                </a:r>
                <a:endParaRPr lang="ko-KR" altLang="en-US" sz="1600" dirty="0"/>
              </a:p>
            </p:txBody>
          </p:sp>
        </p:grpSp>
      </p:grpSp>
      <p:cxnSp>
        <p:nvCxnSpPr>
          <p:cNvPr id="86" name="꺾인 연결선 22">
            <a:extLst>
              <a:ext uri="{FF2B5EF4-FFF2-40B4-BE49-F238E27FC236}">
                <a16:creationId xmlns:a16="http://schemas.microsoft.com/office/drawing/2014/main" id="{54AE49B9-9964-411D-876F-514A0D3E6837}"/>
              </a:ext>
            </a:extLst>
          </p:cNvPr>
          <p:cNvCxnSpPr>
            <a:cxnSpLocks/>
            <a:stCxn id="17" idx="3"/>
            <a:endCxn id="43" idx="2"/>
          </p:cNvCxnSpPr>
          <p:nvPr/>
        </p:nvCxnSpPr>
        <p:spPr>
          <a:xfrm flipV="1">
            <a:off x="3259579" y="3921364"/>
            <a:ext cx="1613954" cy="1091797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12B838E-8138-4C68-87CD-2201D099CC71}"/>
              </a:ext>
            </a:extLst>
          </p:cNvPr>
          <p:cNvSpPr txBox="1"/>
          <p:nvPr/>
        </p:nvSpPr>
        <p:spPr>
          <a:xfrm>
            <a:off x="5852579" y="3356992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dispatch(action)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95" name="꺾인 연결선 22">
            <a:extLst>
              <a:ext uri="{FF2B5EF4-FFF2-40B4-BE49-F238E27FC236}">
                <a16:creationId xmlns:a16="http://schemas.microsoft.com/office/drawing/2014/main" id="{D9ABD4D9-DCA5-4AED-A10E-8C44593BE5E9}"/>
              </a:ext>
            </a:extLst>
          </p:cNvPr>
          <p:cNvCxnSpPr>
            <a:cxnSpLocks/>
            <a:stCxn id="125" idx="1"/>
            <a:endCxn id="45" idx="3"/>
          </p:cNvCxnSpPr>
          <p:nvPr/>
        </p:nvCxnSpPr>
        <p:spPr>
          <a:xfrm rot="16200000" flipV="1">
            <a:off x="5036353" y="262959"/>
            <a:ext cx="186487" cy="4330721"/>
          </a:xfrm>
          <a:prstGeom prst="bentConnector2">
            <a:avLst/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DE9F9A1-2FFE-45A6-8CC3-D292D992C410}"/>
              </a:ext>
            </a:extLst>
          </p:cNvPr>
          <p:cNvGrpSpPr/>
          <p:nvPr/>
        </p:nvGrpSpPr>
        <p:grpSpPr>
          <a:xfrm>
            <a:off x="5386160" y="5445224"/>
            <a:ext cx="2016000" cy="707737"/>
            <a:chOff x="7658325" y="5601543"/>
            <a:chExt cx="2160000" cy="707737"/>
          </a:xfrm>
        </p:grpSpPr>
        <p:sp>
          <p:nvSpPr>
            <p:cNvPr id="107" name="사각형: 잘린 한쪽 모서리 106">
              <a:extLst>
                <a:ext uri="{FF2B5EF4-FFF2-40B4-BE49-F238E27FC236}">
                  <a16:creationId xmlns:a16="http://schemas.microsoft.com/office/drawing/2014/main" id="{0E83F9B4-1D1B-4D4E-8B25-649A597BFD82}"/>
                </a:ext>
              </a:extLst>
            </p:cNvPr>
            <p:cNvSpPr/>
            <p:nvPr/>
          </p:nvSpPr>
          <p:spPr>
            <a:xfrm>
              <a:off x="7658325" y="5601543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사각형: 잘린 한쪽 모서리 109">
              <a:extLst>
                <a:ext uri="{FF2B5EF4-FFF2-40B4-BE49-F238E27FC236}">
                  <a16:creationId xmlns:a16="http://schemas.microsoft.com/office/drawing/2014/main" id="{CABD752E-00C3-4CBD-9DE3-E324B090504A}"/>
                </a:ext>
              </a:extLst>
            </p:cNvPr>
            <p:cNvSpPr/>
            <p:nvPr/>
          </p:nvSpPr>
          <p:spPr>
            <a:xfrm>
              <a:off x="7658325" y="5949280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13" name="꺾인 연결선 22">
            <a:extLst>
              <a:ext uri="{FF2B5EF4-FFF2-40B4-BE49-F238E27FC236}">
                <a16:creationId xmlns:a16="http://schemas.microsoft.com/office/drawing/2014/main" id="{E74B3F10-CF02-4289-9898-9B15AF963A8C}"/>
              </a:ext>
            </a:extLst>
          </p:cNvPr>
          <p:cNvCxnSpPr>
            <a:cxnSpLocks/>
            <a:stCxn id="107" idx="0"/>
            <a:endCxn id="20" idx="3"/>
          </p:cNvCxnSpPr>
          <p:nvPr/>
        </p:nvCxnSpPr>
        <p:spPr>
          <a:xfrm flipH="1" flipV="1">
            <a:off x="7401048" y="4903789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8567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>
            <a:extLst>
              <a:ext uri="{FF2B5EF4-FFF2-40B4-BE49-F238E27FC236}">
                <a16:creationId xmlns:a16="http://schemas.microsoft.com/office/drawing/2014/main" id="{AB3F467C-4CB9-4D73-A89F-94B32A4E3C7E}"/>
              </a:ext>
            </a:extLst>
          </p:cNvPr>
          <p:cNvGrpSpPr/>
          <p:nvPr/>
        </p:nvGrpSpPr>
        <p:grpSpPr>
          <a:xfrm>
            <a:off x="778163" y="2564904"/>
            <a:ext cx="2735992" cy="1304322"/>
            <a:chOff x="848544" y="1588312"/>
            <a:chExt cx="2735992" cy="1304322"/>
          </a:xfrm>
        </p:grpSpPr>
        <p:sp>
          <p:nvSpPr>
            <p:cNvPr id="4" name="사각형: 잘린 한쪽 모서리 3">
              <a:extLst>
                <a:ext uri="{FF2B5EF4-FFF2-40B4-BE49-F238E27FC236}">
                  <a16:creationId xmlns:a16="http://schemas.microsoft.com/office/drawing/2014/main" id="{045FC1CB-B66D-4000-B19B-E6A30AC6DB6D}"/>
                </a:ext>
              </a:extLst>
            </p:cNvPr>
            <p:cNvSpPr/>
            <p:nvPr/>
          </p:nvSpPr>
          <p:spPr>
            <a:xfrm>
              <a:off x="848544" y="1588312"/>
              <a:ext cx="2735992" cy="1304322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Component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Containter.js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AB98843-3104-4B36-9986-D3103801392D}"/>
                </a:ext>
              </a:extLst>
            </p:cNvPr>
            <p:cNvSpPr/>
            <p:nvPr/>
          </p:nvSpPr>
          <p:spPr>
            <a:xfrm>
              <a:off x="992560" y="2070725"/>
              <a:ext cx="20420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mapStateToProps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EF7B9AA-7B19-4B61-88BC-384078E6221C}"/>
                </a:ext>
              </a:extLst>
            </p:cNvPr>
            <p:cNvSpPr/>
            <p:nvPr/>
          </p:nvSpPr>
          <p:spPr>
            <a:xfrm>
              <a:off x="992560" y="2403238"/>
              <a:ext cx="238785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i="1" dirty="0">
                  <a:solidFill>
                    <a:schemeClr val="tx1"/>
                  </a:solidFill>
                </a:rPr>
                <a:t>mapDispatchToProps</a:t>
              </a:r>
              <a:endParaRPr lang="ko-KR" altLang="en-US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React - Redux </a:t>
            </a:r>
            <a:r>
              <a:rPr lang="en-US" altLang="ko-KR" baseline="30000" dirty="0"/>
              <a:t>w/ React-Router</a:t>
            </a:r>
            <a:endParaRPr lang="ko-KR" altLang="en-US" baseline="30000" dirty="0"/>
          </a:p>
        </p:txBody>
      </p:sp>
      <p:sp>
        <p:nvSpPr>
          <p:cNvPr id="3" name="직사각형 2"/>
          <p:cNvSpPr/>
          <p:nvPr/>
        </p:nvSpPr>
        <p:spPr>
          <a:xfrm>
            <a:off x="1602004" y="1699003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App.js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8" name="직선 화살표 연결선 7"/>
          <p:cNvCxnSpPr>
            <a:cxnSpLocks/>
            <a:stCxn id="61" idx="1"/>
            <a:endCxn id="3" idx="3"/>
          </p:cNvCxnSpPr>
          <p:nvPr/>
        </p:nvCxnSpPr>
        <p:spPr>
          <a:xfrm flipH="1" flipV="1">
            <a:off x="2682124" y="1879003"/>
            <a:ext cx="398668" cy="184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611779" y="993111"/>
            <a:ext cx="108012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Index.js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/>
          <p:cNvCxnSpPr>
            <a:cxnSpLocks/>
            <a:stCxn id="3" idx="0"/>
            <a:endCxn id="10" idx="2"/>
          </p:cNvCxnSpPr>
          <p:nvPr/>
        </p:nvCxnSpPr>
        <p:spPr>
          <a:xfrm flipV="1">
            <a:off x="2142064" y="1353111"/>
            <a:ext cx="9775" cy="34589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1035715" y="4833161"/>
            <a:ext cx="2223864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Component View.js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9" name="꺾인 연결선 18"/>
          <p:cNvCxnSpPr>
            <a:cxnSpLocks/>
            <a:stCxn id="20" idx="0"/>
            <a:endCxn id="125" idx="4"/>
          </p:cNvCxnSpPr>
          <p:nvPr/>
        </p:nvCxnSpPr>
        <p:spPr>
          <a:xfrm rot="5400000" flipH="1" flipV="1">
            <a:off x="6298029" y="3392346"/>
            <a:ext cx="1426462" cy="1236424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5385048" y="4723789"/>
            <a:ext cx="2016000" cy="360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Root Reducer.js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꺾인 연결선 22"/>
          <p:cNvCxnSpPr>
            <a:cxnSpLocks/>
            <a:stCxn id="20" idx="1"/>
            <a:endCxn id="107" idx="2"/>
          </p:cNvCxnSpPr>
          <p:nvPr/>
        </p:nvCxnSpPr>
        <p:spPr>
          <a:xfrm rot="10800000" flipH="1" flipV="1">
            <a:off x="5385048" y="4903788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그룹 140"/>
          <p:cNvGrpSpPr/>
          <p:nvPr/>
        </p:nvGrpSpPr>
        <p:grpSpPr>
          <a:xfrm>
            <a:off x="3958823" y="3573016"/>
            <a:ext cx="1829420" cy="682676"/>
            <a:chOff x="4158506" y="1484784"/>
            <a:chExt cx="1829420" cy="682676"/>
          </a:xfrm>
        </p:grpSpPr>
        <p:sp>
          <p:nvSpPr>
            <p:cNvPr id="35" name="직사각형 34"/>
            <p:cNvSpPr/>
            <p:nvPr/>
          </p:nvSpPr>
          <p:spPr>
            <a:xfrm>
              <a:off x="4158506" y="1484784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158506" y="1807460"/>
              <a:ext cx="1829420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ActionCreator.js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4" name="꺾인 연결선 43"/>
          <p:cNvCxnSpPr>
            <a:cxnSpLocks/>
            <a:stCxn id="35" idx="1"/>
            <a:endCxn id="46" idx="3"/>
          </p:cNvCxnSpPr>
          <p:nvPr/>
        </p:nvCxnSpPr>
        <p:spPr>
          <a:xfrm rot="10800000">
            <a:off x="3310035" y="3559830"/>
            <a:ext cx="648788" cy="193186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cxnSpLocks/>
            <a:stCxn id="125" idx="5"/>
            <a:endCxn id="20" idx="0"/>
          </p:cNvCxnSpPr>
          <p:nvPr/>
        </p:nvCxnSpPr>
        <p:spPr>
          <a:xfrm rot="5400000">
            <a:off x="6398737" y="3158538"/>
            <a:ext cx="1559562" cy="1570940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14809" y="1941079"/>
            <a:ext cx="12779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(currentState)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58" name="꺾인 연결선 57"/>
          <p:cNvCxnSpPr>
            <a:cxnSpLocks/>
            <a:stCxn id="35" idx="3"/>
            <a:endCxn id="125" idx="3"/>
          </p:cNvCxnSpPr>
          <p:nvPr/>
        </p:nvCxnSpPr>
        <p:spPr>
          <a:xfrm flipV="1">
            <a:off x="5788243" y="3164227"/>
            <a:ext cx="1506713" cy="588789"/>
          </a:xfrm>
          <a:prstGeom prst="bentConnector2">
            <a:avLst/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379915" y="4087101"/>
            <a:ext cx="1885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(previouState, 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72" name="꺾인 연결선 71"/>
          <p:cNvCxnSpPr>
            <a:cxnSpLocks/>
            <a:stCxn id="20" idx="3"/>
            <a:endCxn id="76" idx="2"/>
          </p:cNvCxnSpPr>
          <p:nvPr/>
        </p:nvCxnSpPr>
        <p:spPr>
          <a:xfrm flipV="1">
            <a:off x="7401048" y="3002366"/>
            <a:ext cx="1251717" cy="1901423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107" idx="3"/>
            <a:endCxn id="20" idx="2"/>
          </p:cNvCxnSpPr>
          <p:nvPr/>
        </p:nvCxnSpPr>
        <p:spPr>
          <a:xfrm rot="16200000" flipV="1">
            <a:off x="6212887" y="5263951"/>
            <a:ext cx="361435" cy="1112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617296" y="4947795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(newState, initialState)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3264258" y="5025519"/>
            <a:ext cx="1040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interaction</a:t>
            </a:r>
          </a:p>
          <a:p>
            <a:r>
              <a:rPr lang="en-US" altLang="ko-KR" sz="1400" i="1" dirty="0">
                <a:solidFill>
                  <a:srgbClr val="C00000"/>
                </a:solidFill>
              </a:rPr>
              <a:t>(click, etc.)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120" name="꺾인 연결선 119"/>
          <p:cNvCxnSpPr>
            <a:cxnSpLocks/>
            <a:stCxn id="125" idx="0"/>
            <a:endCxn id="10" idx="3"/>
          </p:cNvCxnSpPr>
          <p:nvPr/>
        </p:nvCxnSpPr>
        <p:spPr>
          <a:xfrm rot="16200000" flipV="1">
            <a:off x="4553010" y="-688000"/>
            <a:ext cx="1215352" cy="4937573"/>
          </a:xfrm>
          <a:prstGeom prst="bentConnector2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E489699-11A7-4F49-84CF-6901D39C2104}"/>
              </a:ext>
            </a:extLst>
          </p:cNvPr>
          <p:cNvGrpSpPr/>
          <p:nvPr/>
        </p:nvGrpSpPr>
        <p:grpSpPr>
          <a:xfrm>
            <a:off x="7156395" y="2388463"/>
            <a:ext cx="2232248" cy="908864"/>
            <a:chOff x="7113240" y="2160096"/>
            <a:chExt cx="2232248" cy="908864"/>
          </a:xfrm>
        </p:grpSpPr>
        <p:sp>
          <p:nvSpPr>
            <p:cNvPr id="76" name="직사각형 75"/>
            <p:cNvSpPr/>
            <p:nvPr/>
          </p:nvSpPr>
          <p:spPr>
            <a:xfrm>
              <a:off x="7873731" y="2413999"/>
              <a:ext cx="1471757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   middleware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타원 124"/>
            <p:cNvSpPr/>
            <p:nvPr/>
          </p:nvSpPr>
          <p:spPr>
            <a:xfrm>
              <a:off x="7113240" y="2160096"/>
              <a:ext cx="946154" cy="90886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Store.js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F9082A5-4305-4186-9D35-23689F36A122}"/>
              </a:ext>
            </a:extLst>
          </p:cNvPr>
          <p:cNvSpPr txBox="1"/>
          <p:nvPr/>
        </p:nvSpPr>
        <p:spPr>
          <a:xfrm>
            <a:off x="4537036" y="658100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2019.4.9</a:t>
            </a:r>
            <a:endParaRPr lang="ko-KR" altLang="en-US" sz="1200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C405105-9694-410A-AAFC-1845A8BFB723}"/>
              </a:ext>
            </a:extLst>
          </p:cNvPr>
          <p:cNvCxnSpPr>
            <a:cxnSpLocks/>
            <a:stCxn id="17" idx="0"/>
            <a:endCxn id="4" idx="1"/>
          </p:cNvCxnSpPr>
          <p:nvPr/>
        </p:nvCxnSpPr>
        <p:spPr>
          <a:xfrm flipH="1" flipV="1">
            <a:off x="2146159" y="3869226"/>
            <a:ext cx="1488" cy="963935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43">
            <a:extLst>
              <a:ext uri="{FF2B5EF4-FFF2-40B4-BE49-F238E27FC236}">
                <a16:creationId xmlns:a16="http://schemas.microsoft.com/office/drawing/2014/main" id="{E4CA31E6-D737-4E4D-9DB2-A059242E00F8}"/>
              </a:ext>
            </a:extLst>
          </p:cNvPr>
          <p:cNvCxnSpPr>
            <a:cxnSpLocks/>
            <a:stCxn id="45" idx="1"/>
            <a:endCxn id="17" idx="1"/>
          </p:cNvCxnSpPr>
          <p:nvPr/>
        </p:nvCxnSpPr>
        <p:spPr>
          <a:xfrm rot="10800000" flipH="1" flipV="1">
            <a:off x="922179" y="3227317"/>
            <a:ext cx="113536" cy="1785844"/>
          </a:xfrm>
          <a:prstGeom prst="bentConnector3">
            <a:avLst>
              <a:gd name="adj1" fmla="val -20134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43">
            <a:extLst>
              <a:ext uri="{FF2B5EF4-FFF2-40B4-BE49-F238E27FC236}">
                <a16:creationId xmlns:a16="http://schemas.microsoft.com/office/drawing/2014/main" id="{536C77FC-7E66-49DD-9711-B301559D42DC}"/>
              </a:ext>
            </a:extLst>
          </p:cNvPr>
          <p:cNvCxnSpPr>
            <a:cxnSpLocks/>
            <a:stCxn id="46" idx="1"/>
            <a:endCxn id="17" idx="1"/>
          </p:cNvCxnSpPr>
          <p:nvPr/>
        </p:nvCxnSpPr>
        <p:spPr>
          <a:xfrm rot="10800000" flipH="1" flipV="1">
            <a:off x="922179" y="3559829"/>
            <a:ext cx="113536" cy="1453331"/>
          </a:xfrm>
          <a:prstGeom prst="bentConnector3">
            <a:avLst>
              <a:gd name="adj1" fmla="val -201346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6701950-2C12-47D6-BA34-535462A32730}"/>
              </a:ext>
            </a:extLst>
          </p:cNvPr>
          <p:cNvSpPr txBox="1"/>
          <p:nvPr/>
        </p:nvSpPr>
        <p:spPr>
          <a:xfrm>
            <a:off x="776536" y="4357702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props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32054054-0FD7-4A5F-A4FD-636E7595C93A}"/>
              </a:ext>
            </a:extLst>
          </p:cNvPr>
          <p:cNvGrpSpPr/>
          <p:nvPr/>
        </p:nvGrpSpPr>
        <p:grpSpPr>
          <a:xfrm>
            <a:off x="403309" y="6113616"/>
            <a:ext cx="2173427" cy="411728"/>
            <a:chOff x="403309" y="6113616"/>
            <a:chExt cx="2173427" cy="411728"/>
          </a:xfrm>
        </p:grpSpPr>
        <p:sp>
          <p:nvSpPr>
            <p:cNvPr id="50" name="사각형: 잘린 한쪽 모서리 49">
              <a:extLst>
                <a:ext uri="{FF2B5EF4-FFF2-40B4-BE49-F238E27FC236}">
                  <a16:creationId xmlns:a16="http://schemas.microsoft.com/office/drawing/2014/main" id="{989F2FA5-DEB9-4A2F-815F-C9D45BA486A3}"/>
                </a:ext>
              </a:extLst>
            </p:cNvPr>
            <p:cNvSpPr/>
            <p:nvPr/>
          </p:nvSpPr>
          <p:spPr>
            <a:xfrm>
              <a:off x="403309" y="6165343"/>
              <a:ext cx="733267" cy="360001"/>
            </a:xfrm>
            <a:prstGeom prst="snip1Rect">
              <a:avLst>
                <a:gd name="adj" fmla="val 39245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state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C7867C16-51AB-4170-A5B1-4040D2A0E513}"/>
                </a:ext>
              </a:extLst>
            </p:cNvPr>
            <p:cNvGrpSpPr/>
            <p:nvPr/>
          </p:nvGrpSpPr>
          <p:grpSpPr>
            <a:xfrm>
              <a:off x="1218744" y="6114782"/>
              <a:ext cx="637912" cy="338554"/>
              <a:chOff x="1218744" y="6114782"/>
              <a:chExt cx="637912" cy="338554"/>
            </a:xfrm>
          </p:grpSpPr>
          <p:cxnSp>
            <p:nvCxnSpPr>
              <p:cNvPr id="79" name="직선 화살표 연결선 78">
                <a:extLst>
                  <a:ext uri="{FF2B5EF4-FFF2-40B4-BE49-F238E27FC236}">
                    <a16:creationId xmlns:a16="http://schemas.microsoft.com/office/drawing/2014/main" id="{418D89AA-EFA2-4AEB-98E4-8653102CED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943" y="6437304"/>
                <a:ext cx="565713" cy="0"/>
              </a:xfrm>
              <a:prstGeom prst="straightConnector1">
                <a:avLst/>
              </a:prstGeom>
              <a:ln w="28575"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D9CC1C3-3924-4A77-98F5-36DE696011FC}"/>
                  </a:ext>
                </a:extLst>
              </p:cNvPr>
              <p:cNvSpPr txBox="1"/>
              <p:nvPr/>
            </p:nvSpPr>
            <p:spPr>
              <a:xfrm>
                <a:off x="1218744" y="6114782"/>
                <a:ext cx="62869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code</a:t>
                </a:r>
                <a:endParaRPr lang="ko-KR" altLang="en-US" sz="1600" dirty="0"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2969C10-09FC-41B0-B27B-5D070AD50888}"/>
                </a:ext>
              </a:extLst>
            </p:cNvPr>
            <p:cNvGrpSpPr/>
            <p:nvPr/>
          </p:nvGrpSpPr>
          <p:grpSpPr>
            <a:xfrm>
              <a:off x="1879109" y="6113616"/>
              <a:ext cx="697627" cy="338554"/>
              <a:chOff x="1879109" y="6113616"/>
              <a:chExt cx="697627" cy="338554"/>
            </a:xfrm>
          </p:grpSpPr>
          <p:cxnSp>
            <p:nvCxnSpPr>
              <p:cNvPr id="82" name="직선 화살표 연결선 81">
                <a:extLst>
                  <a:ext uri="{FF2B5EF4-FFF2-40B4-BE49-F238E27FC236}">
                    <a16:creationId xmlns:a16="http://schemas.microsoft.com/office/drawing/2014/main" id="{E44897B9-B679-4400-BB12-5C7E16C851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2678" y="6436138"/>
                <a:ext cx="565713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03D03E0-CFB8-43CF-9D48-43F2B000E77C}"/>
                  </a:ext>
                </a:extLst>
              </p:cNvPr>
              <p:cNvSpPr txBox="1"/>
              <p:nvPr/>
            </p:nvSpPr>
            <p:spPr>
              <a:xfrm>
                <a:off x="1879109" y="6113616"/>
                <a:ext cx="6976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/>
                <a:r>
                  <a:rPr lang="en-US" altLang="ko-KR" sz="1600" dirty="0"/>
                  <a:t>props</a:t>
                </a:r>
                <a:endParaRPr lang="ko-KR" altLang="en-US" sz="1600" dirty="0"/>
              </a:p>
            </p:txBody>
          </p:sp>
        </p:grpSp>
      </p:grpSp>
      <p:cxnSp>
        <p:nvCxnSpPr>
          <p:cNvPr id="86" name="꺾인 연결선 22">
            <a:extLst>
              <a:ext uri="{FF2B5EF4-FFF2-40B4-BE49-F238E27FC236}">
                <a16:creationId xmlns:a16="http://schemas.microsoft.com/office/drawing/2014/main" id="{54AE49B9-9964-411D-876F-514A0D3E6837}"/>
              </a:ext>
            </a:extLst>
          </p:cNvPr>
          <p:cNvCxnSpPr>
            <a:cxnSpLocks/>
            <a:stCxn id="17" idx="3"/>
            <a:endCxn id="43" idx="2"/>
          </p:cNvCxnSpPr>
          <p:nvPr/>
        </p:nvCxnSpPr>
        <p:spPr>
          <a:xfrm flipV="1">
            <a:off x="3259579" y="4255692"/>
            <a:ext cx="1613954" cy="757469"/>
          </a:xfrm>
          <a:prstGeom prst="bentConnector2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12B838E-8138-4C68-87CD-2201D099CC71}"/>
              </a:ext>
            </a:extLst>
          </p:cNvPr>
          <p:cNvSpPr txBox="1"/>
          <p:nvPr/>
        </p:nvSpPr>
        <p:spPr>
          <a:xfrm>
            <a:off x="5852579" y="3421598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 dirty="0">
                <a:solidFill>
                  <a:srgbClr val="C00000"/>
                </a:solidFill>
              </a:rPr>
              <a:t>dispatch(action)</a:t>
            </a:r>
            <a:endParaRPr lang="ko-KR" altLang="en-US" sz="1400" i="1" dirty="0">
              <a:solidFill>
                <a:srgbClr val="C00000"/>
              </a:solidFill>
            </a:endParaRPr>
          </a:p>
        </p:txBody>
      </p:sp>
      <p:cxnSp>
        <p:nvCxnSpPr>
          <p:cNvPr id="95" name="꺾인 연결선 22">
            <a:extLst>
              <a:ext uri="{FF2B5EF4-FFF2-40B4-BE49-F238E27FC236}">
                <a16:creationId xmlns:a16="http://schemas.microsoft.com/office/drawing/2014/main" id="{D9ABD4D9-DCA5-4AED-A10E-8C44593BE5E9}"/>
              </a:ext>
            </a:extLst>
          </p:cNvPr>
          <p:cNvCxnSpPr>
            <a:cxnSpLocks/>
            <a:stCxn id="125" idx="1"/>
            <a:endCxn id="45" idx="3"/>
          </p:cNvCxnSpPr>
          <p:nvPr/>
        </p:nvCxnSpPr>
        <p:spPr>
          <a:xfrm rot="16200000" flipH="1" flipV="1">
            <a:off x="4776719" y="709079"/>
            <a:ext cx="705754" cy="4330721"/>
          </a:xfrm>
          <a:prstGeom prst="bentConnector4">
            <a:avLst>
              <a:gd name="adj1" fmla="val -32391"/>
              <a:gd name="adj2" fmla="val 51600"/>
            </a:avLst>
          </a:prstGeom>
          <a:ln w="28575">
            <a:solidFill>
              <a:srgbClr val="C0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DE9F9A1-2FFE-45A6-8CC3-D292D992C410}"/>
              </a:ext>
            </a:extLst>
          </p:cNvPr>
          <p:cNvGrpSpPr/>
          <p:nvPr/>
        </p:nvGrpSpPr>
        <p:grpSpPr>
          <a:xfrm>
            <a:off x="5386160" y="5445224"/>
            <a:ext cx="2016000" cy="707737"/>
            <a:chOff x="7658325" y="5601543"/>
            <a:chExt cx="2160000" cy="707737"/>
          </a:xfrm>
        </p:grpSpPr>
        <p:sp>
          <p:nvSpPr>
            <p:cNvPr id="107" name="사각형: 잘린 한쪽 모서리 106">
              <a:extLst>
                <a:ext uri="{FF2B5EF4-FFF2-40B4-BE49-F238E27FC236}">
                  <a16:creationId xmlns:a16="http://schemas.microsoft.com/office/drawing/2014/main" id="{0E83F9B4-1D1B-4D4E-8B25-649A597BFD82}"/>
                </a:ext>
              </a:extLst>
            </p:cNvPr>
            <p:cNvSpPr/>
            <p:nvPr/>
          </p:nvSpPr>
          <p:spPr>
            <a:xfrm>
              <a:off x="7658325" y="5601543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사각형: 잘린 한쪽 모서리 109">
              <a:extLst>
                <a:ext uri="{FF2B5EF4-FFF2-40B4-BE49-F238E27FC236}">
                  <a16:creationId xmlns:a16="http://schemas.microsoft.com/office/drawing/2014/main" id="{CABD752E-00C3-4CBD-9DE3-E324B090504A}"/>
                </a:ext>
              </a:extLst>
            </p:cNvPr>
            <p:cNvSpPr/>
            <p:nvPr/>
          </p:nvSpPr>
          <p:spPr>
            <a:xfrm>
              <a:off x="7658325" y="5949280"/>
              <a:ext cx="2160000" cy="360000"/>
            </a:xfrm>
            <a:prstGeom prst="snip1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Child Reducer.js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13" name="꺾인 연결선 22">
            <a:extLst>
              <a:ext uri="{FF2B5EF4-FFF2-40B4-BE49-F238E27FC236}">
                <a16:creationId xmlns:a16="http://schemas.microsoft.com/office/drawing/2014/main" id="{E74B3F10-CF02-4289-9898-9B15AF963A8C}"/>
              </a:ext>
            </a:extLst>
          </p:cNvPr>
          <p:cNvCxnSpPr>
            <a:cxnSpLocks/>
            <a:stCxn id="107" idx="0"/>
            <a:endCxn id="20" idx="3"/>
          </p:cNvCxnSpPr>
          <p:nvPr/>
        </p:nvCxnSpPr>
        <p:spPr>
          <a:xfrm flipH="1" flipV="1">
            <a:off x="7401048" y="4903789"/>
            <a:ext cx="1112" cy="721435"/>
          </a:xfrm>
          <a:prstGeom prst="bentConnector3">
            <a:avLst>
              <a:gd name="adj1" fmla="val -20557554"/>
            </a:avLst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0C18215-CD8E-41F1-82CE-8B9668459356}"/>
              </a:ext>
            </a:extLst>
          </p:cNvPr>
          <p:cNvSpPr/>
          <p:nvPr/>
        </p:nvSpPr>
        <p:spPr>
          <a:xfrm>
            <a:off x="3080792" y="1700848"/>
            <a:ext cx="1152000" cy="360000"/>
          </a:xfrm>
          <a:prstGeom prst="rect">
            <a:avLst/>
          </a:prstGeom>
          <a:solidFill>
            <a:srgbClr val="FFFF0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Routes.js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4" name="꺾인 연결선 43">
            <a:extLst>
              <a:ext uri="{FF2B5EF4-FFF2-40B4-BE49-F238E27FC236}">
                <a16:creationId xmlns:a16="http://schemas.microsoft.com/office/drawing/2014/main" id="{20BF4490-8693-47AB-8713-B34BA2D06AEF}"/>
              </a:ext>
            </a:extLst>
          </p:cNvPr>
          <p:cNvCxnSpPr>
            <a:cxnSpLocks/>
            <a:stCxn id="4" idx="3"/>
            <a:endCxn id="61" idx="2"/>
          </p:cNvCxnSpPr>
          <p:nvPr/>
        </p:nvCxnSpPr>
        <p:spPr>
          <a:xfrm rot="5400000" flipH="1" flipV="1">
            <a:off x="2649447" y="1557560"/>
            <a:ext cx="504056" cy="1510633"/>
          </a:xfrm>
          <a:prstGeom prst="bent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5087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Redux: Middleware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484784"/>
            <a:ext cx="5486400" cy="311467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36390" y="782581"/>
            <a:ext cx="53973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3"/>
              </a:rPr>
              <a:t>https://www.slideshare.net/visualengin/workshop-22-reactredux-m</a:t>
            </a:r>
            <a:endParaRPr lang="ko-KR" altLang="en-US" sz="14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ECC1B97-4A2D-4E17-AC51-2FA7A667CB0C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160B02-F083-4CD4-86C4-81CC590FB824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8616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C1FFD8D-0683-4452-9FAC-8EE0A70C8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683" y="1370309"/>
            <a:ext cx="4859589" cy="259841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Redux: Redux </a:t>
            </a:r>
            <a:r>
              <a:rPr lang="en-US" altLang="ko-KR" dirty="0" err="1"/>
              <a:t>Devtools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64890" y="1124744"/>
            <a:ext cx="4249881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import {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appyMiddleWare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applyMiddleware</a:t>
            </a:r>
            <a:r>
              <a:rPr lang="en-US" altLang="ko-KR" sz="800" dirty="0"/>
              <a:t> } from '</a:t>
            </a:r>
            <a:r>
              <a:rPr lang="en-US" altLang="ko-KR" sz="800" dirty="0" err="1"/>
              <a:t>redux</a:t>
            </a:r>
            <a:r>
              <a:rPr lang="en-US" altLang="ko-KR" sz="800" dirty="0"/>
              <a:t>';</a:t>
            </a:r>
          </a:p>
          <a:p>
            <a:r>
              <a:rPr lang="en-US" altLang="ko-KR" sz="800" dirty="0"/>
              <a:t>// import </a:t>
            </a:r>
            <a:r>
              <a:rPr lang="en-US" altLang="ko-KR" sz="800" dirty="0" err="1"/>
              <a:t>TodoReducer</a:t>
            </a:r>
            <a:r>
              <a:rPr lang="en-US" altLang="ko-KR" sz="800" dirty="0"/>
              <a:t> from './</a:t>
            </a:r>
            <a:r>
              <a:rPr lang="en-US" altLang="ko-KR" sz="800" dirty="0" err="1"/>
              <a:t>TodoReducer</a:t>
            </a:r>
            <a:r>
              <a:rPr lang="en-US" altLang="ko-KR" sz="800" dirty="0"/>
              <a:t>';</a:t>
            </a:r>
          </a:p>
          <a:p>
            <a:r>
              <a:rPr lang="en-US" altLang="ko-KR" sz="800" dirty="0"/>
              <a:t>import 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 from './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';</a:t>
            </a:r>
          </a:p>
          <a:p>
            <a:r>
              <a:rPr lang="en-US" altLang="ko-KR" sz="800" dirty="0"/>
              <a:t>import </a:t>
            </a:r>
            <a:r>
              <a:rPr lang="en-US" altLang="ko-KR" sz="800" dirty="0" err="1"/>
              <a:t>thunk</a:t>
            </a:r>
            <a:r>
              <a:rPr lang="en-US" altLang="ko-KR" sz="800" dirty="0"/>
              <a:t> from '</a:t>
            </a:r>
            <a:r>
              <a:rPr lang="en-US" altLang="ko-KR" sz="800" dirty="0" err="1"/>
              <a:t>redux-thunk</a:t>
            </a:r>
            <a:r>
              <a:rPr lang="en-US" altLang="ko-KR" sz="800" dirty="0"/>
              <a:t>'</a:t>
            </a:r>
          </a:p>
          <a:p>
            <a:br>
              <a:rPr lang="en-US" altLang="ko-KR" sz="800" dirty="0"/>
            </a:br>
            <a:r>
              <a:rPr lang="en-US" altLang="ko-KR" sz="800" dirty="0">
                <a:solidFill>
                  <a:srgbClr val="0000FF"/>
                </a:solidFill>
              </a:rPr>
              <a:t>import </a:t>
            </a:r>
            <a:r>
              <a:rPr lang="en-US" altLang="ko-KR" sz="800" dirty="0" err="1">
                <a:solidFill>
                  <a:srgbClr val="0000FF"/>
                </a:solidFill>
              </a:rPr>
              <a:t>TimeActionCreator</a:t>
            </a:r>
            <a:r>
              <a:rPr lang="en-US" altLang="ko-KR" sz="800" dirty="0">
                <a:solidFill>
                  <a:srgbClr val="0000FF"/>
                </a:solidFill>
              </a:rPr>
              <a:t> from './</a:t>
            </a:r>
            <a:r>
              <a:rPr lang="en-US" altLang="ko-KR" sz="800" dirty="0" err="1">
                <a:solidFill>
                  <a:srgbClr val="0000FF"/>
                </a:solidFill>
              </a:rPr>
              <a:t>TimeActionCreator</a:t>
            </a:r>
            <a:r>
              <a:rPr lang="en-US" altLang="ko-KR" sz="800" dirty="0">
                <a:solidFill>
                  <a:srgbClr val="0000FF"/>
                </a:solidFill>
              </a:rPr>
              <a:t>';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import </a:t>
            </a:r>
            <a:r>
              <a:rPr lang="en-US" altLang="ko-KR" sz="800" dirty="0" err="1">
                <a:solidFill>
                  <a:srgbClr val="0000FF"/>
                </a:solidFill>
              </a:rPr>
              <a:t>TodoActionCreator</a:t>
            </a:r>
            <a:r>
              <a:rPr lang="en-US" altLang="ko-KR" sz="800" dirty="0">
                <a:solidFill>
                  <a:srgbClr val="0000FF"/>
                </a:solidFill>
              </a:rPr>
              <a:t> from './</a:t>
            </a:r>
            <a:r>
              <a:rPr lang="en-US" altLang="ko-KR" sz="800" dirty="0" err="1">
                <a:solidFill>
                  <a:srgbClr val="0000FF"/>
                </a:solidFill>
              </a:rPr>
              <a:t>TodoActionCreator</a:t>
            </a:r>
            <a:r>
              <a:rPr lang="en-US" altLang="ko-KR" sz="800" dirty="0">
                <a:solidFill>
                  <a:srgbClr val="0000FF"/>
                </a:solidFill>
              </a:rPr>
              <a:t>';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import { </a:t>
            </a:r>
            <a:r>
              <a:rPr lang="en-US" altLang="ko-KR" sz="800" dirty="0" err="1">
                <a:solidFill>
                  <a:srgbClr val="0000FF"/>
                </a:solidFill>
              </a:rPr>
              <a:t>composeWithDevTools</a:t>
            </a:r>
            <a:r>
              <a:rPr lang="en-US" altLang="ko-KR" sz="800" dirty="0">
                <a:solidFill>
                  <a:srgbClr val="0000FF"/>
                </a:solidFill>
              </a:rPr>
              <a:t> } from '</a:t>
            </a:r>
            <a:r>
              <a:rPr lang="en-US" altLang="ko-KR" sz="800" dirty="0" err="1">
                <a:solidFill>
                  <a:srgbClr val="0000FF"/>
                </a:solidFill>
              </a:rPr>
              <a:t>redux</a:t>
            </a:r>
            <a:r>
              <a:rPr lang="en-US" altLang="ko-KR" sz="800" dirty="0">
                <a:solidFill>
                  <a:srgbClr val="0000FF"/>
                </a:solidFill>
              </a:rPr>
              <a:t>-</a:t>
            </a:r>
            <a:r>
              <a:rPr lang="en-US" altLang="ko-KR" sz="800" dirty="0" err="1">
                <a:solidFill>
                  <a:srgbClr val="0000FF"/>
                </a:solidFill>
              </a:rPr>
              <a:t>devtools</a:t>
            </a:r>
            <a:r>
              <a:rPr lang="en-US" altLang="ko-KR" sz="800" dirty="0">
                <a:solidFill>
                  <a:srgbClr val="0000FF"/>
                </a:solidFill>
              </a:rPr>
              <a:t>-extension';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import invariant from '</a:t>
            </a:r>
            <a:r>
              <a:rPr lang="en-US" altLang="ko-KR" sz="800" dirty="0" err="1">
                <a:solidFill>
                  <a:srgbClr val="0000FF"/>
                </a:solidFill>
              </a:rPr>
              <a:t>redux</a:t>
            </a:r>
            <a:r>
              <a:rPr lang="en-US" altLang="ko-KR" sz="800" dirty="0">
                <a:solidFill>
                  <a:srgbClr val="0000FF"/>
                </a:solidFill>
              </a:rPr>
              <a:t>-immutable-state-invariant';</a:t>
            </a:r>
          </a:p>
          <a:p>
            <a:br>
              <a:rPr lang="en-US" altLang="ko-KR" sz="800" dirty="0"/>
            </a:br>
            <a:br>
              <a:rPr lang="en-US" altLang="ko-KR" sz="800" dirty="0"/>
            </a:br>
            <a:r>
              <a:rPr lang="en-US" altLang="ko-KR" sz="800" dirty="0" err="1"/>
              <a:t>const</a:t>
            </a:r>
            <a:r>
              <a:rPr lang="en-US" altLang="ko-KR" sz="800" dirty="0"/>
              <a:t> logger = (store) =&gt; {</a:t>
            </a:r>
          </a:p>
          <a:p>
            <a:r>
              <a:rPr lang="en-US" altLang="ko-KR" sz="800" dirty="0"/>
              <a:t>return (next) =&gt; {</a:t>
            </a:r>
          </a:p>
          <a:p>
            <a:r>
              <a:rPr lang="en-US" altLang="ko-KR" sz="800" dirty="0"/>
              <a:t>return (action) =&gt; {</a:t>
            </a:r>
          </a:p>
          <a:p>
            <a:r>
              <a:rPr lang="en-US" altLang="ko-KR" sz="800" dirty="0"/>
              <a:t>console.log("------------------------")</a:t>
            </a:r>
          </a:p>
          <a:p>
            <a:r>
              <a:rPr lang="en-US" altLang="ko-KR" sz="800" dirty="0"/>
              <a:t>console.log("##### action execution:", action)</a:t>
            </a:r>
          </a:p>
          <a:p>
            <a:r>
              <a:rPr lang="en-US" altLang="ko-KR" sz="800" dirty="0"/>
              <a:t>console.log("##### state before execution:", </a:t>
            </a:r>
            <a:r>
              <a:rPr lang="en-US" altLang="ko-KR" sz="800" dirty="0" err="1"/>
              <a:t>store.getState</a:t>
            </a:r>
            <a:r>
              <a:rPr lang="en-US" altLang="ko-KR" sz="800" dirty="0"/>
              <a:t>())</a:t>
            </a:r>
          </a:p>
          <a:p>
            <a:r>
              <a:rPr lang="en-US" altLang="ko-KR" sz="800" dirty="0"/>
              <a:t>next(action)</a:t>
            </a:r>
          </a:p>
          <a:p>
            <a:r>
              <a:rPr lang="en-US" altLang="ko-KR" sz="800" dirty="0"/>
              <a:t>console.log("##### state after execution:", </a:t>
            </a:r>
            <a:r>
              <a:rPr lang="en-US" altLang="ko-KR" sz="800" dirty="0" err="1"/>
              <a:t>store.getState</a:t>
            </a:r>
            <a:r>
              <a:rPr lang="en-US" altLang="ko-KR" sz="800" dirty="0"/>
              <a:t>())</a:t>
            </a:r>
          </a:p>
          <a:p>
            <a:r>
              <a:rPr lang="en-US" altLang="ko-KR" sz="800" dirty="0"/>
              <a:t>}</a:t>
            </a:r>
          </a:p>
          <a:p>
            <a:r>
              <a:rPr lang="en-US" altLang="ko-KR" sz="800" dirty="0"/>
              <a:t>}</a:t>
            </a:r>
          </a:p>
          <a:p>
            <a:r>
              <a:rPr lang="en-US" altLang="ko-KR" sz="800" dirty="0"/>
              <a:t>}</a:t>
            </a:r>
          </a:p>
          <a:p>
            <a:br>
              <a:rPr lang="en-US" altLang="ko-KR" sz="800" dirty="0"/>
            </a:br>
            <a:r>
              <a:rPr lang="en-US" altLang="ko-KR" sz="800" dirty="0"/>
              <a:t>//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TodoReducer</a:t>
            </a:r>
            <a:r>
              <a:rPr lang="en-US" altLang="ko-KR" sz="800" dirty="0"/>
              <a:t>);</a:t>
            </a:r>
          </a:p>
          <a:p>
            <a:r>
              <a:rPr lang="en-US" altLang="ko-KR" sz="800" dirty="0"/>
              <a:t>//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) ;</a:t>
            </a:r>
          </a:p>
          <a:p>
            <a:r>
              <a:rPr lang="en-US" altLang="ko-KR" sz="800" dirty="0"/>
              <a:t>// </a:t>
            </a:r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applyMiddleware</a:t>
            </a:r>
            <a:r>
              <a:rPr lang="en-US" altLang="ko-KR" sz="800" dirty="0"/>
              <a:t>(logger));</a:t>
            </a:r>
          </a:p>
          <a:p>
            <a:r>
              <a:rPr lang="en-US" altLang="ko-KR" sz="800" dirty="0"/>
              <a:t>/*</a:t>
            </a:r>
          </a:p>
          <a:p>
            <a:r>
              <a:rPr lang="en-US" altLang="ko-KR" sz="800" dirty="0" err="1"/>
              <a:t>const</a:t>
            </a:r>
            <a:r>
              <a:rPr lang="en-US" altLang="ko-KR" sz="800" dirty="0"/>
              <a:t>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 = </a:t>
            </a:r>
            <a:r>
              <a:rPr lang="en-US" altLang="ko-KR" sz="800" dirty="0" err="1"/>
              <a:t>createStore</a:t>
            </a:r>
            <a:r>
              <a:rPr lang="en-US" altLang="ko-KR" sz="800" dirty="0"/>
              <a:t>(</a:t>
            </a:r>
            <a:r>
              <a:rPr lang="en-US" altLang="ko-KR" sz="800" dirty="0" err="1"/>
              <a:t>RootReducer</a:t>
            </a:r>
            <a:r>
              <a:rPr lang="en-US" altLang="ko-KR" sz="800" dirty="0"/>
              <a:t>, </a:t>
            </a:r>
            <a:r>
              <a:rPr lang="en-US" altLang="ko-KR" sz="800" dirty="0" err="1"/>
              <a:t>applyMiddleware</a:t>
            </a:r>
            <a:r>
              <a:rPr lang="en-US" altLang="ko-KR" sz="800" dirty="0"/>
              <a:t>(logger, </a:t>
            </a:r>
            <a:r>
              <a:rPr lang="en-US" altLang="ko-KR" sz="800" dirty="0" err="1"/>
              <a:t>thunk</a:t>
            </a:r>
            <a:r>
              <a:rPr lang="en-US" altLang="ko-KR" sz="800" dirty="0"/>
              <a:t>));</a:t>
            </a:r>
          </a:p>
          <a:p>
            <a:r>
              <a:rPr lang="en-US" altLang="ko-KR" sz="800" dirty="0"/>
              <a:t>export default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;</a:t>
            </a:r>
          </a:p>
          <a:p>
            <a:r>
              <a:rPr lang="en-US" altLang="ko-KR" sz="800" dirty="0"/>
              <a:t>*/</a:t>
            </a:r>
          </a:p>
          <a:p>
            <a:br>
              <a:rPr lang="en-US" altLang="ko-KR" sz="800" dirty="0"/>
            </a:br>
            <a:r>
              <a:rPr lang="en-US" altLang="ko-KR" sz="800" dirty="0">
                <a:solidFill>
                  <a:srgbClr val="0000FF"/>
                </a:solidFill>
              </a:rPr>
              <a:t>let </a:t>
            </a:r>
            <a:r>
              <a:rPr lang="en-US" altLang="ko-KR" sz="800" dirty="0" err="1">
                <a:solidFill>
                  <a:srgbClr val="0000FF"/>
                </a:solidFill>
              </a:rPr>
              <a:t>TodoStore</a:t>
            </a:r>
            <a:endParaRPr lang="en-US" altLang="ko-KR" sz="800" dirty="0">
              <a:solidFill>
                <a:srgbClr val="0000FF"/>
              </a:solidFill>
            </a:endParaRPr>
          </a:p>
          <a:p>
            <a:r>
              <a:rPr lang="en-US" altLang="ko-KR" sz="800" dirty="0">
                <a:solidFill>
                  <a:srgbClr val="0000FF"/>
                </a:solidFill>
              </a:rPr>
              <a:t>if (</a:t>
            </a:r>
            <a:r>
              <a:rPr lang="en-US" altLang="ko-KR" sz="800" dirty="0" err="1">
                <a:solidFill>
                  <a:srgbClr val="0000FF"/>
                </a:solidFill>
              </a:rPr>
              <a:t>process.env.NODE_ENV</a:t>
            </a:r>
            <a:r>
              <a:rPr lang="en-US" altLang="ko-KR" sz="800" dirty="0">
                <a:solidFill>
                  <a:srgbClr val="0000FF"/>
                </a:solidFill>
              </a:rPr>
              <a:t> === 'production') {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TodoStore</a:t>
            </a:r>
            <a:r>
              <a:rPr lang="en-US" altLang="ko-KR" sz="800" dirty="0">
                <a:solidFill>
                  <a:srgbClr val="0000FF"/>
                </a:solidFill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</a:rPr>
              <a:t>createStore</a:t>
            </a:r>
            <a:r>
              <a:rPr lang="en-US" altLang="ko-KR" sz="800" dirty="0">
                <a:solidFill>
                  <a:srgbClr val="0000FF"/>
                </a:solidFill>
              </a:rPr>
              <a:t>(</a:t>
            </a:r>
            <a:r>
              <a:rPr lang="en-US" altLang="ko-KR" sz="800" dirty="0" err="1">
                <a:solidFill>
                  <a:srgbClr val="0000FF"/>
                </a:solidFill>
              </a:rPr>
              <a:t>RootReducer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</a:rPr>
              <a:t>applyMiddleware</a:t>
            </a:r>
            <a:r>
              <a:rPr lang="en-US" altLang="ko-KR" sz="800" dirty="0">
                <a:solidFill>
                  <a:srgbClr val="0000FF"/>
                </a:solidFill>
              </a:rPr>
              <a:t>(logger, </a:t>
            </a:r>
            <a:r>
              <a:rPr lang="en-US" altLang="ko-KR" sz="800" dirty="0" err="1">
                <a:solidFill>
                  <a:srgbClr val="0000FF"/>
                </a:solidFill>
              </a:rPr>
              <a:t>thunk</a:t>
            </a:r>
            <a:r>
              <a:rPr lang="en-US" altLang="ko-KR" sz="800" dirty="0">
                <a:solidFill>
                  <a:srgbClr val="0000FF"/>
                </a:solidFill>
              </a:rPr>
              <a:t>));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} else {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const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en-US" altLang="ko-KR" sz="800" dirty="0" err="1">
                <a:solidFill>
                  <a:srgbClr val="0000FF"/>
                </a:solidFill>
              </a:rPr>
              <a:t>composeEnhancers</a:t>
            </a:r>
            <a:r>
              <a:rPr lang="en-US" altLang="ko-KR" sz="800" dirty="0">
                <a:solidFill>
                  <a:srgbClr val="0000FF"/>
                </a:solidFill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</a:rPr>
              <a:t>composeWithDevTools</a:t>
            </a:r>
            <a:r>
              <a:rPr lang="en-US" altLang="ko-KR" sz="800" dirty="0">
                <a:solidFill>
                  <a:srgbClr val="0000FF"/>
                </a:solidFill>
              </a:rPr>
              <a:t>({...</a:t>
            </a:r>
            <a:r>
              <a:rPr lang="en-US" altLang="ko-KR" sz="800" dirty="0" err="1">
                <a:solidFill>
                  <a:srgbClr val="0000FF"/>
                </a:solidFill>
              </a:rPr>
              <a:t>TimeActionCreator</a:t>
            </a:r>
            <a:r>
              <a:rPr lang="en-US" altLang="ko-KR" sz="800" dirty="0">
                <a:solidFill>
                  <a:srgbClr val="0000FF"/>
                </a:solidFill>
              </a:rPr>
              <a:t>, ...</a:t>
            </a:r>
            <a:r>
              <a:rPr lang="en-US" altLang="ko-KR" sz="800" dirty="0" err="1">
                <a:solidFill>
                  <a:srgbClr val="0000FF"/>
                </a:solidFill>
              </a:rPr>
              <a:t>TodoActionCreator</a:t>
            </a:r>
            <a:r>
              <a:rPr lang="en-US" altLang="ko-KR" sz="800" dirty="0">
                <a:solidFill>
                  <a:srgbClr val="0000FF"/>
                </a:solidFill>
              </a:rPr>
              <a:t>});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TodoStore</a:t>
            </a:r>
            <a:r>
              <a:rPr lang="en-US" altLang="ko-KR" sz="800" dirty="0">
                <a:solidFill>
                  <a:srgbClr val="0000FF"/>
                </a:solidFill>
              </a:rPr>
              <a:t> = </a:t>
            </a:r>
            <a:r>
              <a:rPr lang="en-US" altLang="ko-KR" sz="800" dirty="0" err="1">
                <a:solidFill>
                  <a:srgbClr val="0000FF"/>
                </a:solidFill>
              </a:rPr>
              <a:t>createStore</a:t>
            </a:r>
            <a:r>
              <a:rPr lang="en-US" altLang="ko-KR" sz="800" dirty="0">
                <a:solidFill>
                  <a:srgbClr val="0000FF"/>
                </a:solidFill>
              </a:rPr>
              <a:t>(</a:t>
            </a:r>
            <a:r>
              <a:rPr lang="en-US" altLang="ko-KR" sz="800" dirty="0" err="1">
                <a:solidFill>
                  <a:srgbClr val="0000FF"/>
                </a:solidFill>
              </a:rPr>
              <a:t>RootReducer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en-US" altLang="ko-KR" sz="800" dirty="0" err="1">
                <a:solidFill>
                  <a:srgbClr val="0000FF"/>
                </a:solidFill>
              </a:rPr>
              <a:t>composeEnhancers</a:t>
            </a:r>
            <a:r>
              <a:rPr lang="en-US" altLang="ko-KR" sz="800" dirty="0">
                <a:solidFill>
                  <a:srgbClr val="0000FF"/>
                </a:solidFill>
              </a:rPr>
              <a:t>(</a:t>
            </a:r>
          </a:p>
          <a:p>
            <a:r>
              <a:rPr lang="en-US" altLang="ko-KR" sz="800" dirty="0" err="1">
                <a:solidFill>
                  <a:srgbClr val="0000FF"/>
                </a:solidFill>
              </a:rPr>
              <a:t>applyMiddleware</a:t>
            </a:r>
            <a:r>
              <a:rPr lang="en-US" altLang="ko-KR" sz="800" dirty="0">
                <a:solidFill>
                  <a:srgbClr val="0000FF"/>
                </a:solidFill>
              </a:rPr>
              <a:t>(invariant(), </a:t>
            </a:r>
            <a:r>
              <a:rPr lang="en-US" altLang="ko-KR" sz="800" dirty="0" err="1">
                <a:solidFill>
                  <a:srgbClr val="0000FF"/>
                </a:solidFill>
              </a:rPr>
              <a:t>thunk</a:t>
            </a:r>
            <a:r>
              <a:rPr lang="en-US" altLang="ko-KR" sz="800" dirty="0">
                <a:solidFill>
                  <a:srgbClr val="0000FF"/>
                </a:solidFill>
              </a:rPr>
              <a:t>)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));</a:t>
            </a:r>
          </a:p>
          <a:p>
            <a:r>
              <a:rPr lang="en-US" altLang="ko-KR" sz="800" dirty="0">
                <a:solidFill>
                  <a:srgbClr val="0000FF"/>
                </a:solidFill>
              </a:rPr>
              <a:t>}</a:t>
            </a:r>
          </a:p>
          <a:p>
            <a:r>
              <a:rPr lang="en-US" altLang="ko-KR" sz="800" dirty="0"/>
              <a:t>export default </a:t>
            </a:r>
            <a:r>
              <a:rPr lang="en-US" altLang="ko-KR" sz="800" dirty="0" err="1"/>
              <a:t>TodoStore</a:t>
            </a:r>
            <a:r>
              <a:rPr lang="en-US" altLang="ko-KR" sz="800" dirty="0"/>
              <a:t>;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3063AE7-A51B-4AD2-934B-5A633E2E148C}"/>
              </a:ext>
            </a:extLst>
          </p:cNvPr>
          <p:cNvCxnSpPr/>
          <p:nvPr/>
        </p:nvCxnSpPr>
        <p:spPr>
          <a:xfrm flipV="1">
            <a:off x="5601072" y="-243408"/>
            <a:ext cx="2808312" cy="727280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2F00B2-01D2-4F4A-B225-DB20CADBF377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28813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Mobx</a:t>
            </a:r>
            <a:endParaRPr lang="ko-KR" altLang="en-US" dirty="0"/>
          </a:p>
        </p:txBody>
      </p:sp>
      <p:pic>
        <p:nvPicPr>
          <p:cNvPr id="7170" name="Picture 2" descr="MobX unidirectional 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761657"/>
            <a:ext cx="9062442" cy="311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07403" y="723384"/>
            <a:ext cx="27013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>
                <a:hlinkClick r:id="rId3"/>
              </a:rPr>
              <a:t>https://github.com/mobxjs/mobx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2144688" y="308922"/>
            <a:ext cx="3490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Simple, scalable state management</a:t>
            </a:r>
            <a:endParaRPr lang="ko-KR" altLang="en-US" dirty="0"/>
          </a:p>
        </p:txBody>
      </p:sp>
      <p:pic>
        <p:nvPicPr>
          <p:cNvPr id="7172" name="Picture 4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509" y="329193"/>
            <a:ext cx="499456" cy="499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2E4F2A-D5E9-4F9E-8273-9F347DABF88C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261584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Mobx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85799" y="908050"/>
            <a:ext cx="8703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err="1"/>
              <a:t>MobX</a:t>
            </a:r>
            <a:r>
              <a:rPr lang="en-US" altLang="ko-KR" sz="1200" dirty="0"/>
              <a:t> Quick Start Guide: Supercharge the client state in your React apps with </a:t>
            </a:r>
            <a:r>
              <a:rPr lang="en-US" altLang="ko-KR" sz="1200" dirty="0" err="1"/>
              <a:t>MobX</a:t>
            </a:r>
            <a:r>
              <a:rPr lang="en-US" altLang="ko-KR" sz="1200" dirty="0"/>
              <a:t> 1st Edition, Kindle Edition, July 26, 2018</a:t>
            </a:r>
          </a:p>
        </p:txBody>
      </p:sp>
      <p:pic>
        <p:nvPicPr>
          <p:cNvPr id="7172" name="Picture 4" descr="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440" y="308922"/>
            <a:ext cx="499456" cy="499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5" y="1520044"/>
            <a:ext cx="2333625" cy="1800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04DD3F-2912-49D6-BC60-FB21EAA5AA0D}"/>
              </a:ext>
            </a:extLst>
          </p:cNvPr>
          <p:cNvSpPr txBox="1"/>
          <p:nvPr/>
        </p:nvSpPr>
        <p:spPr>
          <a:xfrm>
            <a:off x="4425623" y="6581001"/>
            <a:ext cx="1003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aseline="0" dirty="0"/>
              <a:t>2019.4.1 - 5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829473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>
                <a:latin typeface="Impact" panose="020B0806030902050204" pitchFamily="34" charset="0"/>
              </a:rPr>
              <a:t>Appendix</a:t>
            </a:r>
            <a:endParaRPr lang="ko-KR" altLang="en-US" dirty="0">
              <a:latin typeface="Impact" panose="020B080603090205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8385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Tools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74700" y="1052736"/>
            <a:ext cx="470154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local- npm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2"/>
              </a:rPr>
              <a:t>https://www.npmjs.com/package/local-npm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&gt;&gt;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nslookup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registry.npmjs.org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구굴계산기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Babel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3"/>
              </a:rPr>
              <a:t>https://babeljs.io/repl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Boostrap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4"/>
              </a:rPr>
              <a:t>https://getbootstrap.com/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Codesandbox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5"/>
              </a:rPr>
              <a:t>https://codesandbox.io/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4084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Sites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74700" y="1079500"/>
            <a:ext cx="929510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System Integration(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시스템 구축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의 약자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2"/>
              </a:rPr>
              <a:t>https://namu.wiki/w/SI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https://awesomereact.com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http://sample.bmaster.kro.kr/console/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http://sample.bmaster.kro.kr:8080/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https://velopert.com/2389  &gt;&gt;&gt; JWT (Jason Web Token)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3"/>
              </a:rPr>
              <a:t>https://velopert.com/2389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Material UI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4"/>
              </a:rPr>
              <a:t>https://material-ui.com/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5"/>
              </a:rPr>
              <a:t>https://ndb796.tistory.com/216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JSX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</a:b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6"/>
              </a:rPr>
              <a:t>https://reactjs.org/docs/introducing-jsx.html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  <a:hlinkClick r:id="rId7"/>
              </a:rPr>
              <a:t>https://www.npmjs.com/package/express-history-api-fallback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  &lt;&lt; hash router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사용하기 위해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5288" y="2001424"/>
            <a:ext cx="1967618" cy="184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53045"/>
      </p:ext>
    </p:extLst>
  </p:cSld>
  <p:clrMapOvr>
    <a:masterClrMapping/>
  </p:clrMapOvr>
</p:sld>
</file>

<file path=ppt/theme/theme1.xml><?xml version="1.0" encoding="utf-8"?>
<a:theme xmlns:a="http://schemas.openxmlformats.org/drawingml/2006/main" name="★ Office ppt ★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3">
      <a:majorFont>
        <a:latin typeface="Impact"/>
        <a:ea typeface="휴먼엑스포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457200" indent="-457200">
          <a:defRPr sz="16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2986</TotalTime>
  <Words>2668</Words>
  <Application>Microsoft Office PowerPoint</Application>
  <PresentationFormat>A4 용지(210x297mm)</PresentationFormat>
  <Paragraphs>489</Paragraphs>
  <Slides>59</Slides>
  <Notes>9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71" baseType="lpstr">
      <vt:lpstr>Menlo</vt:lpstr>
      <vt:lpstr>맑은 고딕</vt:lpstr>
      <vt:lpstr>Batang</vt:lpstr>
      <vt:lpstr>Batang</vt:lpstr>
      <vt:lpstr>Arial</vt:lpstr>
      <vt:lpstr>Cambria Math</vt:lpstr>
      <vt:lpstr>Consolas</vt:lpstr>
      <vt:lpstr>Impact</vt:lpstr>
      <vt:lpstr>Segoe UI</vt:lpstr>
      <vt:lpstr>Wingdings</vt:lpstr>
      <vt:lpstr>★ Office ppt ★</vt:lpstr>
      <vt:lpstr>Acrobat Document</vt:lpstr>
      <vt:lpstr>ReactJS</vt:lpstr>
      <vt:lpstr>멀티캠퍼스 ReactJS 프로그래밍 강의</vt:lpstr>
      <vt:lpstr>Books</vt:lpstr>
      <vt:lpstr>node.js</vt:lpstr>
      <vt:lpstr>node.js: Node Version Manager (nvm) for Windows</vt:lpstr>
      <vt:lpstr>Visual Studio Code</vt:lpstr>
      <vt:lpstr>Visual Studio Code: Shortcuts</vt:lpstr>
      <vt:lpstr>Chrome</vt:lpstr>
      <vt:lpstr>NPM Vs. Yan</vt:lpstr>
      <vt:lpstr>Back-end to Front-end w/ node.js, express, react</vt:lpstr>
      <vt:lpstr>React Features</vt:lpstr>
      <vt:lpstr>ReactJS - Chapter 1 -</vt:lpstr>
      <vt:lpstr>React Global Modules in node.js</vt:lpstr>
      <vt:lpstr>React Local Modules: Create React App Project</vt:lpstr>
      <vt:lpstr>Hello-React-Redux</vt:lpstr>
      <vt:lpstr>Hello-React-Redux: index.js   1/14</vt:lpstr>
      <vt:lpstr>Hello-React-Redux: routes.js   1/14</vt:lpstr>
      <vt:lpstr>Hello-React-Redux: constant.js   1/14</vt:lpstr>
      <vt:lpstr>Hello-React-Redux: ButtonDemoActionCreator.js   1/14</vt:lpstr>
      <vt:lpstr>Hello-React-Redux: MyStore.js   1/14</vt:lpstr>
      <vt:lpstr>Hello-React-Redux: ButtonDemoReducer.js   1/14</vt:lpstr>
      <vt:lpstr>Hello-React-Redux: App.js   1/14</vt:lpstr>
      <vt:lpstr>Hello-React-Redux: Header.js   1/14</vt:lpstr>
      <vt:lpstr>Hello-React-Redux: Main.js   1/14</vt:lpstr>
      <vt:lpstr>Hello-React-Redux: ButtonDemoContainer.js   1/14</vt:lpstr>
      <vt:lpstr>Hello-React-Redux: ButtonDemo.js   1/14</vt:lpstr>
      <vt:lpstr>Hello-React-Redux: Home.js   1/14</vt:lpstr>
      <vt:lpstr>Hello-React-Redux: About.js   1/14</vt:lpstr>
      <vt:lpstr>Hello-React-Redux: NotFound.js   1/14</vt:lpstr>
      <vt:lpstr>ReactJS - Chapter 2 -</vt:lpstr>
      <vt:lpstr>React-Router</vt:lpstr>
      <vt:lpstr>How to show React App in ie11</vt:lpstr>
      <vt:lpstr>How to build relative path (base URL) of React App</vt:lpstr>
      <vt:lpstr>How to test React App with backend: node.js</vt:lpstr>
      <vt:lpstr>Scripts in package.json</vt:lpstr>
      <vt:lpstr>How to remove/disable webpack source-map</vt:lpstr>
      <vt:lpstr>Cross Origin Problem</vt:lpstr>
      <vt:lpstr>How to disable disable-react-devtools</vt:lpstr>
      <vt:lpstr>Webpack</vt:lpstr>
      <vt:lpstr>Webpack</vt:lpstr>
      <vt:lpstr>Webpack: Loader  1/2</vt:lpstr>
      <vt:lpstr>Webpack: Loader  2/2</vt:lpstr>
      <vt:lpstr>Webpack: Plugin</vt:lpstr>
      <vt:lpstr>Webpack: webpack.config.js</vt:lpstr>
      <vt:lpstr>Lifecycle Method</vt:lpstr>
      <vt:lpstr>HOC (High Order Component)</vt:lpstr>
      <vt:lpstr>React Folder: index.js</vt:lpstr>
      <vt:lpstr>Flux</vt:lpstr>
      <vt:lpstr>Redux</vt:lpstr>
      <vt:lpstr>Redux: State Charts</vt:lpstr>
      <vt:lpstr>React - Redux w/o React-Router</vt:lpstr>
      <vt:lpstr>React - Redux w/ React-Router</vt:lpstr>
      <vt:lpstr>Redux: Middleware</vt:lpstr>
      <vt:lpstr>Redux: Redux Devtools</vt:lpstr>
      <vt:lpstr>Mobx</vt:lpstr>
      <vt:lpstr>Mobx</vt:lpstr>
      <vt:lpstr>Appendix</vt:lpstr>
      <vt:lpstr>Tools</vt:lpstr>
      <vt:lpstr>Sites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student</dc:creator>
  <cp:lastModifiedBy>yongshik kim</cp:lastModifiedBy>
  <cp:revision>229</cp:revision>
  <dcterms:created xsi:type="dcterms:W3CDTF">2019-04-04T00:15:10Z</dcterms:created>
  <dcterms:modified xsi:type="dcterms:W3CDTF">2026-06-27T11:49:27Z</dcterms:modified>
</cp:coreProperties>
</file>